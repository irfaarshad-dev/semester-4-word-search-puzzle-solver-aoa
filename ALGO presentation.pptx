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83" r:id="rId3"/>
    <p:sldId id="284" r:id="rId4"/>
    <p:sldId id="257" r:id="rId5"/>
    <p:sldId id="269" r:id="rId6"/>
    <p:sldId id="270" r:id="rId7"/>
    <p:sldId id="272" r:id="rId8"/>
    <p:sldId id="273" r:id="rId9"/>
    <p:sldId id="285" r:id="rId10"/>
    <p:sldId id="287" r:id="rId11"/>
    <p:sldId id="286" r:id="rId12"/>
    <p:sldId id="301" r:id="rId13"/>
    <p:sldId id="298" r:id="rId14"/>
    <p:sldId id="260" r:id="rId15"/>
    <p:sldId id="299" r:id="rId16"/>
    <p:sldId id="261" r:id="rId17"/>
    <p:sldId id="289" r:id="rId18"/>
    <p:sldId id="302" r:id="rId19"/>
    <p:sldId id="300" r:id="rId20"/>
    <p:sldId id="288" r:id="rId21"/>
    <p:sldId id="267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968D33-72D5-48C4-93A8-39CE1B704808}">
  <a:tblStyle styleId="{58968D33-72D5-48C4-93A8-39CE1B7048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0313" autoAdjust="0"/>
  </p:normalViewPr>
  <p:slideViewPr>
    <p:cSldViewPr snapToGrid="0">
      <p:cViewPr>
        <p:scale>
          <a:sx n="63" d="100"/>
          <a:sy n="63" d="100"/>
        </p:scale>
        <p:origin x="7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962F818-6A4A-5D10-75CB-DAD1E877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6CC854A-A9E3-EE1B-D6CC-43A439926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7B81AE8-C062-1353-0D06-C883EA6F3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74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657FEA5-172E-46CF-A821-35115750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7D96730F-0378-0E78-A8A1-D4B083830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67533A72-322A-9AB9-3E48-A56CD9C62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95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562F93DB-7195-8825-4AF7-F76E2F39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01CCDF77-DCE6-05C5-EC3A-2423B815D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70C103E9-8641-90D2-D16D-071BE63E5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9831F37-EAC4-5F1C-5706-0E9BF41C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29AC4E66-2230-743D-14EC-6C9581ADD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2C90FDED-07F2-0E70-A4FC-056C522F4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5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FC6A989-8277-4C41-474F-619BFF1E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1A447B42-078A-B3F7-9D2C-28C92B5FC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1F5034F5-A925-D0A5-181C-C85C98FD2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24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37D0A6B-25B0-247A-DE29-4EEE62F8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59D5D309-26B2-E67A-5D21-C7C206CA2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8BE249F8-FE56-F7C7-D21E-7C5AC21B7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27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FB6F6CA-1195-E5C1-51B1-C9DA8C65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3ADFEC7-D311-914E-EB54-26AF8F058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836B244-5AB0-6C6B-5786-407598F5E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86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FC3B243-DE0B-1604-8991-C2BA07E5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EEF4B5C0-0A90-DF9B-84D6-105FC963F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1740FF48-98C0-82B4-5793-83801E7D7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8517E10-1676-0373-11E8-D8BF7178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2ABF7DC-0BA1-F195-4C8C-C0A5BEDD8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EBBB7A8-4F55-5D4E-87C7-B4EE4E1751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2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4CC9C085-5028-07FD-FECA-9DE30D5C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0F57A052-4202-4530-DA58-6EF584704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F3B712EB-AE79-0FAF-F69D-F7B52FCF1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31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2CA7401-D932-4D4A-A6FD-A03A5F14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F0B2F65-DBDD-BF95-D424-FBBE33999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5732A80-E7C1-739F-F727-F573228BB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7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7125EF3-4216-A1DE-0F27-4B6C9E7C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9947E54-FB61-2B7F-7B85-5D6BB9107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C41968C-3CF4-6013-8B9A-D153A6F18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CEA5C1F-FDA4-54AE-821D-1FF3D1CC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D15A4387-B29C-600B-45A1-3F1CE1D9F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9B12D3CA-1A72-F81D-2251-822C06B0A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46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9838A76-D2D2-CABD-EF9B-1AD45478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4B8D913-8178-9D5E-F3A5-6AB9BE3A4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06D945E-723E-962C-F68B-53E524F8B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12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4949DC93-D199-FA2F-0295-5D957877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2834E0C7-9C56-D4EC-A68A-836076DB2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6E78839F-9F3A-7737-A6FC-8218FE576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11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ANALYSIS OF ALGORITHM</a:t>
            </a:r>
            <a:endParaRPr sz="1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379186"/>
            <a:ext cx="11581447" cy="190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WORD SEARCH PUZZLE SOLVER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381625" y="4226718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569618"/>
            <a:ext cx="110299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Backtracking + DFS + Trie – Based Search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5399563"/>
            <a:ext cx="110299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Presented to</a:t>
            </a:r>
            <a:endParaRPr lang="en-US" sz="1500" dirty="0">
              <a:solidFill>
                <a:srgbClr val="77777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Dr. Neelam </a:t>
            </a:r>
            <a:r>
              <a:rPr lang="en-US" sz="1500" dirty="0" err="1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Umbreen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3;p14">
            <a:extLst>
              <a:ext uri="{FF2B5EF4-FFF2-40B4-BE49-F238E27FC236}">
                <a16:creationId xmlns:a16="http://schemas.microsoft.com/office/drawing/2014/main" id="{E3637FD9-675B-BDB5-E2A1-50ED5A6CCD3E}"/>
              </a:ext>
            </a:extLst>
          </p:cNvPr>
          <p:cNvSpPr txBox="1"/>
          <p:nvPr/>
        </p:nvSpPr>
        <p:spPr>
          <a:xfrm>
            <a:off x="444429" y="581025"/>
            <a:ext cx="1138142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Montserrat"/>
                <a:sym typeface="Montserrat"/>
              </a:rPr>
              <a:t>WORD SEARCH PUZZLE</a:t>
            </a:r>
            <a:endParaRPr dirty="0"/>
          </a:p>
        </p:txBody>
      </p:sp>
      <p:pic>
        <p:nvPicPr>
          <p:cNvPr id="2050" name="Picture 2" descr="Word Search GIFs - Find &amp; Share on GIPHY">
            <a:extLst>
              <a:ext uri="{FF2B5EF4-FFF2-40B4-BE49-F238E27FC236}">
                <a16:creationId xmlns:a16="http://schemas.microsoft.com/office/drawing/2014/main" id="{C4C6C6C6-A210-AC4D-F046-9D2D58636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431" y="1415098"/>
            <a:ext cx="4111137" cy="478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9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F8F177D-0394-9CF3-764B-EE3592D2E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CBB75CA4-7798-FD91-C83A-EA0B2F1F72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48FE310F-DF4C-01EF-9DEB-5781A8E32DEF}"/>
              </a:ext>
            </a:extLst>
          </p:cNvPr>
          <p:cNvSpPr txBox="1"/>
          <p:nvPr/>
        </p:nvSpPr>
        <p:spPr>
          <a:xfrm>
            <a:off x="305276" y="2297906"/>
            <a:ext cx="11581447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Introduction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894787F5-4D54-AC97-7856-4A55BBACC222}"/>
              </a:ext>
            </a:extLst>
          </p:cNvPr>
          <p:cNvSpPr/>
          <p:nvPr/>
        </p:nvSpPr>
        <p:spPr>
          <a:xfrm>
            <a:off x="5381625" y="3276828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02337170-D1EC-B945-67E1-C8465455ACAD}"/>
              </a:ext>
            </a:extLst>
          </p:cNvPr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Section - I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063688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037" y="1262744"/>
            <a:ext cx="5340804" cy="469038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261312" y="1768761"/>
            <a:ext cx="4686300" cy="373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A word search problem consists of a 2D grid of characters.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A set of target words is given.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Words may appear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Horizontally, Vertically, Diagonally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Forward or Backward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en-US" sz="1800" dirty="0"/>
              <a:t>Goal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Locate each word in the grid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Return its starting position and direction</a:t>
            </a:r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581025"/>
            <a:ext cx="1138142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Montserrat"/>
                <a:sym typeface="Montserrat"/>
              </a:rPr>
              <a:t>Problem Overview</a:t>
            </a:r>
            <a:endParaRPr dirty="0"/>
          </a:p>
        </p:txBody>
      </p:sp>
      <p:sp>
        <p:nvSpPr>
          <p:cNvPr id="104" name="Google Shape;104;p14"/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4F3FB29-C38A-51B9-B79A-9F58F9B027D2}"/>
              </a:ext>
            </a:extLst>
          </p:cNvPr>
          <p:cNvSpPr/>
          <p:nvPr/>
        </p:nvSpPr>
        <p:spPr>
          <a:xfrm>
            <a:off x="7214135" y="2175312"/>
            <a:ext cx="502920" cy="502920"/>
          </a:xfrm>
          <a:prstGeom prst="rect">
            <a:avLst/>
          </a:prstGeom>
          <a:solidFill>
            <a:srgbClr val="2E7D3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93FE13C-7BA7-5AC3-C3E6-5508A9C5692B}"/>
              </a:ext>
            </a:extLst>
          </p:cNvPr>
          <p:cNvSpPr/>
          <p:nvPr/>
        </p:nvSpPr>
        <p:spPr>
          <a:xfrm>
            <a:off x="7214135" y="2175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4B1325-0535-F27A-136A-1C43A4B1F7EE}"/>
              </a:ext>
            </a:extLst>
          </p:cNvPr>
          <p:cNvSpPr/>
          <p:nvPr/>
        </p:nvSpPr>
        <p:spPr>
          <a:xfrm>
            <a:off x="7744487" y="2175312"/>
            <a:ext cx="502920" cy="502920"/>
          </a:xfrm>
          <a:prstGeom prst="rect">
            <a:avLst/>
          </a:prstGeom>
          <a:solidFill>
            <a:srgbClr val="2E7D3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24F9A4B-C668-2056-5B76-E1712A1FA6FB}"/>
              </a:ext>
            </a:extLst>
          </p:cNvPr>
          <p:cNvSpPr/>
          <p:nvPr/>
        </p:nvSpPr>
        <p:spPr>
          <a:xfrm>
            <a:off x="7744487" y="2175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6ED80FB-75AE-F48F-05C8-DA2A5C2E9B7D}"/>
              </a:ext>
            </a:extLst>
          </p:cNvPr>
          <p:cNvSpPr/>
          <p:nvPr/>
        </p:nvSpPr>
        <p:spPr>
          <a:xfrm>
            <a:off x="8274839" y="2175312"/>
            <a:ext cx="502920" cy="502920"/>
          </a:xfrm>
          <a:prstGeom prst="rect">
            <a:avLst/>
          </a:prstGeom>
          <a:solidFill>
            <a:srgbClr val="2E7D3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C003A62-F2DB-C125-FE26-C6F8921F2499}"/>
              </a:ext>
            </a:extLst>
          </p:cNvPr>
          <p:cNvSpPr/>
          <p:nvPr/>
        </p:nvSpPr>
        <p:spPr>
          <a:xfrm>
            <a:off x="8274839" y="2175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9972428-85EA-0610-7E72-F47B0124DF18}"/>
              </a:ext>
            </a:extLst>
          </p:cNvPr>
          <p:cNvSpPr/>
          <p:nvPr/>
        </p:nvSpPr>
        <p:spPr>
          <a:xfrm>
            <a:off x="8805191" y="2175312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46BFDCD-119A-D73F-A968-1D725B7CB09E}"/>
              </a:ext>
            </a:extLst>
          </p:cNvPr>
          <p:cNvSpPr/>
          <p:nvPr/>
        </p:nvSpPr>
        <p:spPr>
          <a:xfrm>
            <a:off x="8805191" y="2175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4181EDA-05D1-7848-CF6A-5E3D7A129544}"/>
              </a:ext>
            </a:extLst>
          </p:cNvPr>
          <p:cNvSpPr/>
          <p:nvPr/>
        </p:nvSpPr>
        <p:spPr>
          <a:xfrm>
            <a:off x="9335543" y="2175312"/>
            <a:ext cx="50292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400568-C1DC-7ECE-7FB2-EB2D36452A96}"/>
              </a:ext>
            </a:extLst>
          </p:cNvPr>
          <p:cNvSpPr/>
          <p:nvPr/>
        </p:nvSpPr>
        <p:spPr>
          <a:xfrm>
            <a:off x="9335543" y="2175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40E20BD-28C5-7D25-F357-242A9BDFF48E}"/>
              </a:ext>
            </a:extLst>
          </p:cNvPr>
          <p:cNvSpPr/>
          <p:nvPr/>
        </p:nvSpPr>
        <p:spPr>
          <a:xfrm>
            <a:off x="9865895" y="2175312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9B1867D-8739-C7A7-A7E3-6AE3B6F0B517}"/>
              </a:ext>
            </a:extLst>
          </p:cNvPr>
          <p:cNvSpPr/>
          <p:nvPr/>
        </p:nvSpPr>
        <p:spPr>
          <a:xfrm>
            <a:off x="9865895" y="2175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4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63EE71A-FAA9-DDD3-1B02-197BBA7109C8}"/>
              </a:ext>
            </a:extLst>
          </p:cNvPr>
          <p:cNvSpPr/>
          <p:nvPr/>
        </p:nvSpPr>
        <p:spPr>
          <a:xfrm>
            <a:off x="7214135" y="2705664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4C35722-F5D0-C228-12FF-6218F0892E33}"/>
              </a:ext>
            </a:extLst>
          </p:cNvPr>
          <p:cNvSpPr/>
          <p:nvPr/>
        </p:nvSpPr>
        <p:spPr>
          <a:xfrm>
            <a:off x="7214135" y="2705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95DE061-F692-5807-A43D-2683124E9C50}"/>
              </a:ext>
            </a:extLst>
          </p:cNvPr>
          <p:cNvSpPr/>
          <p:nvPr/>
        </p:nvSpPr>
        <p:spPr>
          <a:xfrm>
            <a:off x="7744487" y="2705664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7011AA3-9E1B-97CC-3E02-2BB191FDC907}"/>
              </a:ext>
            </a:extLst>
          </p:cNvPr>
          <p:cNvSpPr/>
          <p:nvPr/>
        </p:nvSpPr>
        <p:spPr>
          <a:xfrm>
            <a:off x="7744487" y="2705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9B75B18-1267-0241-60CE-8DBEF2ECB874}"/>
              </a:ext>
            </a:extLst>
          </p:cNvPr>
          <p:cNvSpPr/>
          <p:nvPr/>
        </p:nvSpPr>
        <p:spPr>
          <a:xfrm>
            <a:off x="8274839" y="2705664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35CC19C-BCEA-2910-1E0D-4BF1AD8CDC3E}"/>
              </a:ext>
            </a:extLst>
          </p:cNvPr>
          <p:cNvSpPr/>
          <p:nvPr/>
        </p:nvSpPr>
        <p:spPr>
          <a:xfrm>
            <a:off x="8274839" y="2705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4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4840A18-C638-A7F9-44CF-814B075E0E6B}"/>
              </a:ext>
            </a:extLst>
          </p:cNvPr>
          <p:cNvSpPr/>
          <p:nvPr/>
        </p:nvSpPr>
        <p:spPr>
          <a:xfrm>
            <a:off x="8805191" y="2705664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E6E54FC-3401-81A5-A7C3-6793968EA60E}"/>
              </a:ext>
            </a:extLst>
          </p:cNvPr>
          <p:cNvSpPr/>
          <p:nvPr/>
        </p:nvSpPr>
        <p:spPr>
          <a:xfrm>
            <a:off x="8805191" y="2705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4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024A199-6A59-D845-9D8C-73332C204773}"/>
              </a:ext>
            </a:extLst>
          </p:cNvPr>
          <p:cNvSpPr/>
          <p:nvPr/>
        </p:nvSpPr>
        <p:spPr>
          <a:xfrm>
            <a:off x="9335543" y="2705664"/>
            <a:ext cx="50292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AF64C2A-9D6C-CFA9-3543-CC1440A0E1EA}"/>
              </a:ext>
            </a:extLst>
          </p:cNvPr>
          <p:cNvSpPr/>
          <p:nvPr/>
        </p:nvSpPr>
        <p:spPr>
          <a:xfrm>
            <a:off x="9335543" y="2705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4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684AD69-6B62-A12B-9781-A9802AE03901}"/>
              </a:ext>
            </a:extLst>
          </p:cNvPr>
          <p:cNvSpPr/>
          <p:nvPr/>
        </p:nvSpPr>
        <p:spPr>
          <a:xfrm>
            <a:off x="9865895" y="2705664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3D4FDBC-4D16-C98A-5C1F-8D7F2F1DAA98}"/>
              </a:ext>
            </a:extLst>
          </p:cNvPr>
          <p:cNvSpPr/>
          <p:nvPr/>
        </p:nvSpPr>
        <p:spPr>
          <a:xfrm>
            <a:off x="9865895" y="2705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4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E8F3CA52-4B68-C3A7-CE6C-E4B80DA318C6}"/>
              </a:ext>
            </a:extLst>
          </p:cNvPr>
          <p:cNvSpPr/>
          <p:nvPr/>
        </p:nvSpPr>
        <p:spPr>
          <a:xfrm>
            <a:off x="7214135" y="3236016"/>
            <a:ext cx="502920" cy="502920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A76A698-E148-8690-BFB7-160BA9B78743}"/>
              </a:ext>
            </a:extLst>
          </p:cNvPr>
          <p:cNvSpPr/>
          <p:nvPr/>
        </p:nvSpPr>
        <p:spPr>
          <a:xfrm>
            <a:off x="7214135" y="3236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8B70283-73E8-7CDB-DACB-0E1F1B8AAB7B}"/>
              </a:ext>
            </a:extLst>
          </p:cNvPr>
          <p:cNvSpPr/>
          <p:nvPr/>
        </p:nvSpPr>
        <p:spPr>
          <a:xfrm>
            <a:off x="7744487" y="3236016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9C97AB2-3EB1-F3BE-6A9B-4F46D09EB6B3}"/>
              </a:ext>
            </a:extLst>
          </p:cNvPr>
          <p:cNvSpPr/>
          <p:nvPr/>
        </p:nvSpPr>
        <p:spPr>
          <a:xfrm>
            <a:off x="7744487" y="3236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4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F4584C3F-D06D-E19B-2D68-B3A504F60F6C}"/>
              </a:ext>
            </a:extLst>
          </p:cNvPr>
          <p:cNvSpPr/>
          <p:nvPr/>
        </p:nvSpPr>
        <p:spPr>
          <a:xfrm>
            <a:off x="8274839" y="3236016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9DA79EC-F812-FC9B-EA8F-B2056C6E4E9F}"/>
              </a:ext>
            </a:extLst>
          </p:cNvPr>
          <p:cNvSpPr/>
          <p:nvPr/>
        </p:nvSpPr>
        <p:spPr>
          <a:xfrm>
            <a:off x="8274839" y="3236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4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F737C271-4F40-FA01-988C-A12D55D361E4}"/>
              </a:ext>
            </a:extLst>
          </p:cNvPr>
          <p:cNvSpPr/>
          <p:nvPr/>
        </p:nvSpPr>
        <p:spPr>
          <a:xfrm>
            <a:off x="8805191" y="3236016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4E1EFBC-F9E7-8A7E-F4AC-9E52D468B718}"/>
              </a:ext>
            </a:extLst>
          </p:cNvPr>
          <p:cNvSpPr/>
          <p:nvPr/>
        </p:nvSpPr>
        <p:spPr>
          <a:xfrm>
            <a:off x="8805191" y="3236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13E80F0A-A296-0498-9664-2AE832D66A94}"/>
              </a:ext>
            </a:extLst>
          </p:cNvPr>
          <p:cNvSpPr/>
          <p:nvPr/>
        </p:nvSpPr>
        <p:spPr>
          <a:xfrm>
            <a:off x="9335543" y="3236016"/>
            <a:ext cx="50292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5A61E046-BC81-635E-98B2-003F164FF5D9}"/>
              </a:ext>
            </a:extLst>
          </p:cNvPr>
          <p:cNvSpPr/>
          <p:nvPr/>
        </p:nvSpPr>
        <p:spPr>
          <a:xfrm>
            <a:off x="9335543" y="3236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4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B55E2951-F463-D33F-236B-EDD95DF77CCD}"/>
              </a:ext>
            </a:extLst>
          </p:cNvPr>
          <p:cNvSpPr/>
          <p:nvPr/>
        </p:nvSpPr>
        <p:spPr>
          <a:xfrm>
            <a:off x="9865895" y="3236016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EA9172F7-EBDC-1C7A-F79C-3F9017F317C3}"/>
              </a:ext>
            </a:extLst>
          </p:cNvPr>
          <p:cNvSpPr/>
          <p:nvPr/>
        </p:nvSpPr>
        <p:spPr>
          <a:xfrm>
            <a:off x="9865895" y="3236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4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CD62691C-DBDA-09E4-3EDB-2DE43709BE31}"/>
              </a:ext>
            </a:extLst>
          </p:cNvPr>
          <p:cNvSpPr/>
          <p:nvPr/>
        </p:nvSpPr>
        <p:spPr>
          <a:xfrm>
            <a:off x="7214135" y="3766368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AB457CB1-3E5B-494B-C04D-CDABF70FFEA8}"/>
              </a:ext>
            </a:extLst>
          </p:cNvPr>
          <p:cNvSpPr/>
          <p:nvPr/>
        </p:nvSpPr>
        <p:spPr>
          <a:xfrm>
            <a:off x="7214135" y="3766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40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2B257735-EA69-BFD5-8C12-89E06DDEFEB1}"/>
              </a:ext>
            </a:extLst>
          </p:cNvPr>
          <p:cNvSpPr/>
          <p:nvPr/>
        </p:nvSpPr>
        <p:spPr>
          <a:xfrm>
            <a:off x="7744487" y="3766368"/>
            <a:ext cx="502920" cy="502920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DB6C2894-3690-AB61-296B-6F74524D2A4C}"/>
              </a:ext>
            </a:extLst>
          </p:cNvPr>
          <p:cNvSpPr/>
          <p:nvPr/>
        </p:nvSpPr>
        <p:spPr>
          <a:xfrm>
            <a:off x="7744487" y="3766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400" dirty="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9E7FCFCF-236B-2084-BCD0-083B7070F619}"/>
              </a:ext>
            </a:extLst>
          </p:cNvPr>
          <p:cNvSpPr/>
          <p:nvPr/>
        </p:nvSpPr>
        <p:spPr>
          <a:xfrm>
            <a:off x="8274839" y="3766368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A9E6AE38-7CDE-1FED-6E36-302F5C06BA33}"/>
              </a:ext>
            </a:extLst>
          </p:cNvPr>
          <p:cNvSpPr/>
          <p:nvPr/>
        </p:nvSpPr>
        <p:spPr>
          <a:xfrm>
            <a:off x="8274839" y="3766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0E9D381-ACDE-1DE4-2E14-1B5ED2920EAA}"/>
              </a:ext>
            </a:extLst>
          </p:cNvPr>
          <p:cNvSpPr/>
          <p:nvPr/>
        </p:nvSpPr>
        <p:spPr>
          <a:xfrm>
            <a:off x="8805191" y="3766368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4AFABFDE-C601-1AB3-4854-9E859F75F9EE}"/>
              </a:ext>
            </a:extLst>
          </p:cNvPr>
          <p:cNvSpPr/>
          <p:nvPr/>
        </p:nvSpPr>
        <p:spPr>
          <a:xfrm>
            <a:off x="8805191" y="3766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97C8261A-9952-51AD-878A-6214C0C63192}"/>
              </a:ext>
            </a:extLst>
          </p:cNvPr>
          <p:cNvSpPr/>
          <p:nvPr/>
        </p:nvSpPr>
        <p:spPr>
          <a:xfrm>
            <a:off x="9335543" y="3766368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D6BED027-BEFB-BB25-67F0-EC315CC945F0}"/>
              </a:ext>
            </a:extLst>
          </p:cNvPr>
          <p:cNvSpPr/>
          <p:nvPr/>
        </p:nvSpPr>
        <p:spPr>
          <a:xfrm>
            <a:off x="9335543" y="3766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400" dirty="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AE022381-2D6F-293C-6800-92D2ECABF161}"/>
              </a:ext>
            </a:extLst>
          </p:cNvPr>
          <p:cNvSpPr/>
          <p:nvPr/>
        </p:nvSpPr>
        <p:spPr>
          <a:xfrm>
            <a:off x="9865895" y="3766368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C2190F93-0C19-7525-11CD-3FF993F2A4FE}"/>
              </a:ext>
            </a:extLst>
          </p:cNvPr>
          <p:cNvSpPr/>
          <p:nvPr/>
        </p:nvSpPr>
        <p:spPr>
          <a:xfrm>
            <a:off x="9865895" y="3766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400" dirty="0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A83ED49D-28DA-EC26-4ABF-4D91D2ED1684}"/>
              </a:ext>
            </a:extLst>
          </p:cNvPr>
          <p:cNvSpPr/>
          <p:nvPr/>
        </p:nvSpPr>
        <p:spPr>
          <a:xfrm>
            <a:off x="7214135" y="4296720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725593CC-B780-9DFB-34AA-45793AC3525D}"/>
              </a:ext>
            </a:extLst>
          </p:cNvPr>
          <p:cNvSpPr/>
          <p:nvPr/>
        </p:nvSpPr>
        <p:spPr>
          <a:xfrm>
            <a:off x="7214135" y="4296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07D22F54-690E-C859-F15A-43A9A2A67FF2}"/>
              </a:ext>
            </a:extLst>
          </p:cNvPr>
          <p:cNvSpPr/>
          <p:nvPr/>
        </p:nvSpPr>
        <p:spPr>
          <a:xfrm>
            <a:off x="7744487" y="4296720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A831F8BF-D01E-5AD3-B25B-27E9BAB5FF32}"/>
              </a:ext>
            </a:extLst>
          </p:cNvPr>
          <p:cNvSpPr/>
          <p:nvPr/>
        </p:nvSpPr>
        <p:spPr>
          <a:xfrm>
            <a:off x="7744487" y="4296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400" dirty="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C6694804-CB60-EA70-589C-1169DBB9F481}"/>
              </a:ext>
            </a:extLst>
          </p:cNvPr>
          <p:cNvSpPr/>
          <p:nvPr/>
        </p:nvSpPr>
        <p:spPr>
          <a:xfrm>
            <a:off x="8274839" y="4296720"/>
            <a:ext cx="502920" cy="502920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DA02668F-004D-BD9F-5A36-EA567337C1B7}"/>
              </a:ext>
            </a:extLst>
          </p:cNvPr>
          <p:cNvSpPr/>
          <p:nvPr/>
        </p:nvSpPr>
        <p:spPr>
          <a:xfrm>
            <a:off x="8274839" y="4296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400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618A16D4-A276-A175-60A8-0FEE48CEB2E8}"/>
              </a:ext>
            </a:extLst>
          </p:cNvPr>
          <p:cNvSpPr/>
          <p:nvPr/>
        </p:nvSpPr>
        <p:spPr>
          <a:xfrm>
            <a:off x="8805191" y="4296720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A0F56FA5-28E3-7253-1EEC-500BCD35462B}"/>
              </a:ext>
            </a:extLst>
          </p:cNvPr>
          <p:cNvSpPr/>
          <p:nvPr/>
        </p:nvSpPr>
        <p:spPr>
          <a:xfrm>
            <a:off x="8805191" y="4296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400" dirty="0"/>
          </a:p>
        </p:txBody>
      </p:sp>
      <p:sp>
        <p:nvSpPr>
          <p:cNvPr id="62" name="Shape 59">
            <a:extLst>
              <a:ext uri="{FF2B5EF4-FFF2-40B4-BE49-F238E27FC236}">
                <a16:creationId xmlns:a16="http://schemas.microsoft.com/office/drawing/2014/main" id="{2D159329-69CB-69A2-431E-BFF83573F768}"/>
              </a:ext>
            </a:extLst>
          </p:cNvPr>
          <p:cNvSpPr/>
          <p:nvPr/>
        </p:nvSpPr>
        <p:spPr>
          <a:xfrm>
            <a:off x="9335543" y="4296720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A5EBA048-B7AF-CFD9-2BD7-CAA64874FC97}"/>
              </a:ext>
            </a:extLst>
          </p:cNvPr>
          <p:cNvSpPr/>
          <p:nvPr/>
        </p:nvSpPr>
        <p:spPr>
          <a:xfrm>
            <a:off x="9335543" y="4296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400" dirty="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E9F4D668-4AC5-52B3-518E-20204FE17D9B}"/>
              </a:ext>
            </a:extLst>
          </p:cNvPr>
          <p:cNvSpPr/>
          <p:nvPr/>
        </p:nvSpPr>
        <p:spPr>
          <a:xfrm>
            <a:off x="9865895" y="4296720"/>
            <a:ext cx="502920" cy="502920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443B2051-3980-7952-0E82-B4B3DADFF90A}"/>
              </a:ext>
            </a:extLst>
          </p:cNvPr>
          <p:cNvSpPr/>
          <p:nvPr/>
        </p:nvSpPr>
        <p:spPr>
          <a:xfrm>
            <a:off x="9865895" y="4296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400" dirty="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31354D71-BC9B-E5F0-6FF6-0DB7DED40A33}"/>
              </a:ext>
            </a:extLst>
          </p:cNvPr>
          <p:cNvSpPr/>
          <p:nvPr/>
        </p:nvSpPr>
        <p:spPr>
          <a:xfrm>
            <a:off x="6925374" y="50003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5×6 grid (words: CAT, DOG, RUN highlighted)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8151F92A-17A5-2811-7068-FD65F326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5;p14" descr="image.png">
            <a:extLst>
              <a:ext uri="{FF2B5EF4-FFF2-40B4-BE49-F238E27FC236}">
                <a16:creationId xmlns:a16="http://schemas.microsoft.com/office/drawing/2014/main" id="{487C349E-6E2E-1FC8-DBA9-AE5B77B78C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4950" y="836462"/>
            <a:ext cx="3623113" cy="501423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63D62E45-05FD-9889-9612-61488D5120C6}"/>
              </a:ext>
            </a:extLst>
          </p:cNvPr>
          <p:cNvSpPr txBox="1"/>
          <p:nvPr/>
        </p:nvSpPr>
        <p:spPr>
          <a:xfrm>
            <a:off x="771525" y="581025"/>
            <a:ext cx="43587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804A1800-35AC-CB7F-150B-09041AC8A722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70E03F5D-D40F-093F-991E-57FA974C7504}"/>
              </a:ext>
            </a:extLst>
          </p:cNvPr>
          <p:cNvSpPr/>
          <p:nvPr/>
        </p:nvSpPr>
        <p:spPr>
          <a:xfrm>
            <a:off x="1158523" y="1470259"/>
            <a:ext cx="28346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802AD52-547B-8DE0-CCD9-04007CC4109F}"/>
              </a:ext>
            </a:extLst>
          </p:cNvPr>
          <p:cNvSpPr/>
          <p:nvPr/>
        </p:nvSpPr>
        <p:spPr>
          <a:xfrm>
            <a:off x="1158523" y="1470259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C5F464-893B-972E-3890-4B494D722037}"/>
              </a:ext>
            </a:extLst>
          </p:cNvPr>
          <p:cNvSpPr/>
          <p:nvPr/>
        </p:nvSpPr>
        <p:spPr>
          <a:xfrm>
            <a:off x="1158523" y="1973179"/>
            <a:ext cx="2834640" cy="1555630"/>
          </a:xfrm>
          <a:prstGeom prst="rect">
            <a:avLst/>
          </a:prstGeom>
          <a:solidFill>
            <a:srgbClr val="F5F8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7F37D34-9F17-95D4-8ADD-B5D5AB406554}"/>
              </a:ext>
            </a:extLst>
          </p:cNvPr>
          <p:cNvSpPr/>
          <p:nvPr/>
        </p:nvSpPr>
        <p:spPr>
          <a:xfrm>
            <a:off x="1249963" y="2018899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M×N 2D character grid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K target words</a:t>
            </a:r>
            <a:endParaRPr lang="en-US" sz="18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E044F46-B376-B61B-CFB7-BC3A598AEC7A}"/>
              </a:ext>
            </a:extLst>
          </p:cNvPr>
          <p:cNvSpPr/>
          <p:nvPr/>
        </p:nvSpPr>
        <p:spPr>
          <a:xfrm>
            <a:off x="4176043" y="1470259"/>
            <a:ext cx="283464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5816101-8431-5B00-02D7-9A3F3C0D47C4}"/>
              </a:ext>
            </a:extLst>
          </p:cNvPr>
          <p:cNvSpPr/>
          <p:nvPr/>
        </p:nvSpPr>
        <p:spPr>
          <a:xfrm>
            <a:off x="4176043" y="1470259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475CD0E-C029-6628-872B-2AB468F9EB76}"/>
              </a:ext>
            </a:extLst>
          </p:cNvPr>
          <p:cNvSpPr/>
          <p:nvPr/>
        </p:nvSpPr>
        <p:spPr>
          <a:xfrm>
            <a:off x="4176043" y="1973178"/>
            <a:ext cx="2834640" cy="1555631"/>
          </a:xfrm>
          <a:prstGeom prst="rect">
            <a:avLst/>
          </a:prstGeom>
          <a:solidFill>
            <a:srgbClr val="F5F8FF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EA76C57-397A-45EE-550C-15F7DE842EC2}"/>
              </a:ext>
            </a:extLst>
          </p:cNvPr>
          <p:cNvSpPr/>
          <p:nvPr/>
        </p:nvSpPr>
        <p:spPr>
          <a:xfrm>
            <a:off x="4267483" y="2018899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cell (row, col)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label (RIGHT, DOWN...)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NOT FOUND</a:t>
            </a:r>
            <a:endParaRPr lang="en-US" sz="18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34F8E78-8A8A-4A80-C049-D1AACFC41DC5}"/>
              </a:ext>
            </a:extLst>
          </p:cNvPr>
          <p:cNvSpPr/>
          <p:nvPr/>
        </p:nvSpPr>
        <p:spPr>
          <a:xfrm>
            <a:off x="2664075" y="3745621"/>
            <a:ext cx="2834640" cy="50292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215F847-4AE7-9CFB-B15B-19410F5EBBB5}"/>
              </a:ext>
            </a:extLst>
          </p:cNvPr>
          <p:cNvSpPr/>
          <p:nvPr/>
        </p:nvSpPr>
        <p:spPr>
          <a:xfrm>
            <a:off x="2664075" y="3745621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A1BC643-B20A-C80F-D8D3-B790CE520363}"/>
              </a:ext>
            </a:extLst>
          </p:cNvPr>
          <p:cNvSpPr/>
          <p:nvPr/>
        </p:nvSpPr>
        <p:spPr>
          <a:xfrm>
            <a:off x="2664075" y="4248541"/>
            <a:ext cx="2834640" cy="1555632"/>
          </a:xfrm>
          <a:prstGeom prst="rect">
            <a:avLst/>
          </a:prstGeom>
          <a:solidFill>
            <a:srgbClr val="F5F8FF"/>
          </a:solidFill>
          <a:ln w="19050">
            <a:solidFill>
              <a:srgbClr val="0D2B5E"/>
            </a:solidFill>
            <a:prstDash val="solid"/>
          </a:ln>
        </p:spPr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307E4A85-24DB-B481-6707-A6AB4E672BE0}"/>
              </a:ext>
            </a:extLst>
          </p:cNvPr>
          <p:cNvSpPr/>
          <p:nvPr/>
        </p:nvSpPr>
        <p:spPr>
          <a:xfrm>
            <a:off x="2755515" y="4294261"/>
            <a:ext cx="2651760" cy="1509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directions allowed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used once per word path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may overlap each other</a:t>
            </a:r>
            <a:endParaRPr lang="en-US" sz="1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44AD10-F39C-BEC4-AF0D-5F6E739FFDFF}"/>
              </a:ext>
            </a:extLst>
          </p:cNvPr>
          <p:cNvSpPr txBox="1"/>
          <p:nvPr/>
        </p:nvSpPr>
        <p:spPr>
          <a:xfrm>
            <a:off x="8264811" y="4306761"/>
            <a:ext cx="3011557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(Left / Right)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(Up / Down)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(4 directions)</a:t>
            </a:r>
            <a:endParaRPr lang="en-US" sz="1800" dirty="0"/>
          </a:p>
        </p:txBody>
      </p:sp>
      <p:sp>
        <p:nvSpPr>
          <p:cNvPr id="34" name="Google Shape;115;p15">
            <a:extLst>
              <a:ext uri="{FF2B5EF4-FFF2-40B4-BE49-F238E27FC236}">
                <a16:creationId xmlns:a16="http://schemas.microsoft.com/office/drawing/2014/main" id="{12A1B2C0-51BB-0445-6E39-0349D422D3F2}"/>
              </a:ext>
            </a:extLst>
          </p:cNvPr>
          <p:cNvSpPr txBox="1"/>
          <p:nvPr/>
        </p:nvSpPr>
        <p:spPr>
          <a:xfrm>
            <a:off x="8467715" y="1208721"/>
            <a:ext cx="24220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2980B9"/>
                </a:solidFill>
                <a:latin typeface="Roboto"/>
                <a:ea typeface="Roboto"/>
                <a:cs typeface="Roboto"/>
                <a:sym typeface="Roboto"/>
              </a:rPr>
              <a:t>8 Search directions</a:t>
            </a:r>
            <a:endParaRPr lang="en-US" sz="24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27022E27-D4A9-DD6B-6CB2-337FA1ADEC02}"/>
              </a:ext>
            </a:extLst>
          </p:cNvPr>
          <p:cNvSpPr/>
          <p:nvPr/>
        </p:nvSpPr>
        <p:spPr>
          <a:xfrm>
            <a:off x="9768840" y="2900680"/>
            <a:ext cx="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9CA54F9B-46B5-40B9-ED5A-CA9212573AB5}"/>
              </a:ext>
            </a:extLst>
          </p:cNvPr>
          <p:cNvSpPr/>
          <p:nvPr/>
        </p:nvSpPr>
        <p:spPr>
          <a:xfrm>
            <a:off x="9768840" y="2900680"/>
            <a:ext cx="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4FBCD97A-9A32-5245-E6DA-DA07FF0717BF}"/>
              </a:ext>
            </a:extLst>
          </p:cNvPr>
          <p:cNvSpPr/>
          <p:nvPr/>
        </p:nvSpPr>
        <p:spPr>
          <a:xfrm>
            <a:off x="9768840" y="2900680"/>
            <a:ext cx="86868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17F74DB1-F5D2-30DB-201B-472DD8B66C15}"/>
              </a:ext>
            </a:extLst>
          </p:cNvPr>
          <p:cNvSpPr/>
          <p:nvPr/>
        </p:nvSpPr>
        <p:spPr>
          <a:xfrm>
            <a:off x="9768840" y="2900680"/>
            <a:ext cx="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27CACC3B-7444-F46D-74D3-182834EDFA2D}"/>
              </a:ext>
            </a:extLst>
          </p:cNvPr>
          <p:cNvSpPr/>
          <p:nvPr/>
        </p:nvSpPr>
        <p:spPr>
          <a:xfrm>
            <a:off x="9768840" y="2900680"/>
            <a:ext cx="86868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60850BB5-46F5-D74A-C109-306773085FC4}"/>
              </a:ext>
            </a:extLst>
          </p:cNvPr>
          <p:cNvSpPr/>
          <p:nvPr/>
        </p:nvSpPr>
        <p:spPr>
          <a:xfrm>
            <a:off x="9768840" y="2900680"/>
            <a:ext cx="0" cy="86868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EBC02D0A-2A72-9535-9AB1-0452F569D3FF}"/>
              </a:ext>
            </a:extLst>
          </p:cNvPr>
          <p:cNvSpPr/>
          <p:nvPr/>
        </p:nvSpPr>
        <p:spPr>
          <a:xfrm>
            <a:off x="9768840" y="2900680"/>
            <a:ext cx="0" cy="86868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E3750E64-291B-5904-5940-FFD7A052A0C4}"/>
              </a:ext>
            </a:extLst>
          </p:cNvPr>
          <p:cNvSpPr/>
          <p:nvPr/>
        </p:nvSpPr>
        <p:spPr>
          <a:xfrm>
            <a:off x="9768840" y="2900680"/>
            <a:ext cx="868680" cy="868680"/>
          </a:xfrm>
          <a:prstGeom prst="line">
            <a:avLst/>
          </a:prstGeom>
          <a:noFill/>
          <a:ln w="15240">
            <a:solidFill>
              <a:srgbClr val="AAAAAA"/>
            </a:solidFill>
            <a:prstDash val="dash"/>
          </a:ln>
        </p:spPr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466C941B-0471-8EC1-D871-C4B8B076903A}"/>
              </a:ext>
            </a:extLst>
          </p:cNvPr>
          <p:cNvSpPr/>
          <p:nvPr/>
        </p:nvSpPr>
        <p:spPr>
          <a:xfrm>
            <a:off x="8717280" y="1849120"/>
            <a:ext cx="384048" cy="38404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3EDB5E65-8A45-9A3C-A0C3-743BA0191350}"/>
              </a:ext>
            </a:extLst>
          </p:cNvPr>
          <p:cNvSpPr/>
          <p:nvPr/>
        </p:nvSpPr>
        <p:spPr>
          <a:xfrm>
            <a:off x="8717280" y="184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05D85C09-05CA-F412-60D9-84495A810A02}"/>
              </a:ext>
            </a:extLst>
          </p:cNvPr>
          <p:cNvSpPr/>
          <p:nvPr/>
        </p:nvSpPr>
        <p:spPr>
          <a:xfrm>
            <a:off x="9585960" y="184912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C7530960-896F-E929-63D7-E1B0D72DD85E}"/>
              </a:ext>
            </a:extLst>
          </p:cNvPr>
          <p:cNvSpPr/>
          <p:nvPr/>
        </p:nvSpPr>
        <p:spPr>
          <a:xfrm>
            <a:off x="9585960" y="184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64AC225D-BC15-2B0F-0A27-DD276E51704C}"/>
              </a:ext>
            </a:extLst>
          </p:cNvPr>
          <p:cNvSpPr/>
          <p:nvPr/>
        </p:nvSpPr>
        <p:spPr>
          <a:xfrm>
            <a:off x="10454640" y="1849120"/>
            <a:ext cx="384048" cy="3840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8562E15E-7DD1-9E76-9608-381FE07D5036}"/>
              </a:ext>
            </a:extLst>
          </p:cNvPr>
          <p:cNvSpPr/>
          <p:nvPr/>
        </p:nvSpPr>
        <p:spPr>
          <a:xfrm>
            <a:off x="10454640" y="184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BA0673F5-F663-0ADE-ED13-589345FCDBA8}"/>
              </a:ext>
            </a:extLst>
          </p:cNvPr>
          <p:cNvSpPr/>
          <p:nvPr/>
        </p:nvSpPr>
        <p:spPr>
          <a:xfrm>
            <a:off x="8717280" y="271780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0F0D2069-6655-0272-A48A-3EBFCCFF5873}"/>
              </a:ext>
            </a:extLst>
          </p:cNvPr>
          <p:cNvSpPr/>
          <p:nvPr/>
        </p:nvSpPr>
        <p:spPr>
          <a:xfrm>
            <a:off x="8717280" y="271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4485606A-A845-259B-100A-F10BA8B13F3A}"/>
              </a:ext>
            </a:extLst>
          </p:cNvPr>
          <p:cNvSpPr/>
          <p:nvPr/>
        </p:nvSpPr>
        <p:spPr>
          <a:xfrm>
            <a:off x="9585960" y="27178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4C43F7C0-110C-ACCF-7B39-DB8AE99EAF30}"/>
              </a:ext>
            </a:extLst>
          </p:cNvPr>
          <p:cNvSpPr/>
          <p:nvPr/>
        </p:nvSpPr>
        <p:spPr>
          <a:xfrm>
            <a:off x="9585960" y="271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056DFD4F-D5D5-1589-FE88-9C99EFF4B419}"/>
              </a:ext>
            </a:extLst>
          </p:cNvPr>
          <p:cNvSpPr/>
          <p:nvPr/>
        </p:nvSpPr>
        <p:spPr>
          <a:xfrm>
            <a:off x="10454640" y="2717800"/>
            <a:ext cx="384048" cy="3840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555C8892-BFE2-CE79-77CC-4ADDCAEAA263}"/>
              </a:ext>
            </a:extLst>
          </p:cNvPr>
          <p:cNvSpPr/>
          <p:nvPr/>
        </p:nvSpPr>
        <p:spPr>
          <a:xfrm>
            <a:off x="10454640" y="271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</a:t>
            </a:r>
            <a:endParaRPr lang="en-US" sz="14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2C2B2789-335D-8DBE-C147-94C0CC84E4CA}"/>
              </a:ext>
            </a:extLst>
          </p:cNvPr>
          <p:cNvSpPr/>
          <p:nvPr/>
        </p:nvSpPr>
        <p:spPr>
          <a:xfrm>
            <a:off x="8717280" y="3586480"/>
            <a:ext cx="384048" cy="3840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AC93F403-6BD9-AB50-73C0-B9994CB6A6DC}"/>
              </a:ext>
            </a:extLst>
          </p:cNvPr>
          <p:cNvSpPr/>
          <p:nvPr/>
        </p:nvSpPr>
        <p:spPr>
          <a:xfrm>
            <a:off x="8717280" y="3586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22A06E78-39C7-405F-D521-D42AB1DF3A46}"/>
              </a:ext>
            </a:extLst>
          </p:cNvPr>
          <p:cNvSpPr/>
          <p:nvPr/>
        </p:nvSpPr>
        <p:spPr>
          <a:xfrm>
            <a:off x="9585960" y="3586480"/>
            <a:ext cx="384048" cy="3840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48A03CAC-A1FF-3668-ED24-04CADF3A6024}"/>
              </a:ext>
            </a:extLst>
          </p:cNvPr>
          <p:cNvSpPr/>
          <p:nvPr/>
        </p:nvSpPr>
        <p:spPr>
          <a:xfrm>
            <a:off x="9585960" y="3586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563FC585-81F3-7184-88B1-87207F9EFC5C}"/>
              </a:ext>
            </a:extLst>
          </p:cNvPr>
          <p:cNvSpPr/>
          <p:nvPr/>
        </p:nvSpPr>
        <p:spPr>
          <a:xfrm>
            <a:off x="10454640" y="3586480"/>
            <a:ext cx="384048" cy="3840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6B0A014F-4980-6916-45DA-9A75E50BA269}"/>
              </a:ext>
            </a:extLst>
          </p:cNvPr>
          <p:cNvSpPr/>
          <p:nvPr/>
        </p:nvSpPr>
        <p:spPr>
          <a:xfrm>
            <a:off x="10454640" y="3586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947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53264FED-9A00-093A-7DCC-E938DCB1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175D360E-7517-25AE-DA2A-186AA197B50E}"/>
              </a:ext>
            </a:extLst>
          </p:cNvPr>
          <p:cNvSpPr txBox="1"/>
          <p:nvPr/>
        </p:nvSpPr>
        <p:spPr>
          <a:xfrm>
            <a:off x="771525" y="581025"/>
            <a:ext cx="566404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Montserrat"/>
                <a:sym typeface="Montserrat"/>
              </a:rPr>
              <a:t>Limitations of Brute Force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4518393C-4EAF-2711-BABF-ABC9BBD61F58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14BACE-AA9B-C952-F7FD-D4D19262D6E2}"/>
              </a:ext>
            </a:extLst>
          </p:cNvPr>
          <p:cNvGrpSpPr/>
          <p:nvPr/>
        </p:nvGrpSpPr>
        <p:grpSpPr>
          <a:xfrm>
            <a:off x="581025" y="1166648"/>
            <a:ext cx="6348603" cy="5528441"/>
            <a:chOff x="581025" y="1425039"/>
            <a:chExt cx="5175409" cy="4851936"/>
          </a:xfrm>
        </p:grpSpPr>
        <p:pic>
          <p:nvPicPr>
            <p:cNvPr id="113" name="Google Shape;113;p15" descr="image.png">
              <a:extLst>
                <a:ext uri="{FF2B5EF4-FFF2-40B4-BE49-F238E27FC236}">
                  <a16:creationId xmlns:a16="http://schemas.microsoft.com/office/drawing/2014/main" id="{4B982AF3-275E-C934-3662-70A97DC9877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1025" y="1425039"/>
              <a:ext cx="5175409" cy="4851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698A76D8-D94C-F822-EDDF-C5DD2FD50EF3}"/>
                </a:ext>
              </a:extLst>
            </p:cNvPr>
            <p:cNvSpPr txBox="1"/>
            <p:nvPr/>
          </p:nvSpPr>
          <p:spPr>
            <a:xfrm>
              <a:off x="815341" y="1702193"/>
              <a:ext cx="2964180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2100" b="1" dirty="0">
                  <a:solidFill>
                    <a:srgbClr val="2980B9"/>
                  </a:solidFill>
                  <a:latin typeface="Roboto"/>
                  <a:ea typeface="Roboto"/>
                  <a:cs typeface="Roboto"/>
                  <a:sym typeface="Roboto"/>
                </a:rPr>
                <a:t>Brute Force Approach</a:t>
              </a:r>
              <a:endParaRPr lang="en-US" sz="2400" dirty="0"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56455B69-49F5-0425-B340-350B238F01A7}"/>
                </a:ext>
              </a:extLst>
            </p:cNvPr>
            <p:cNvSpPr txBox="1"/>
            <p:nvPr/>
          </p:nvSpPr>
          <p:spPr>
            <a:xfrm>
              <a:off x="771525" y="2207772"/>
              <a:ext cx="4829175" cy="2313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lvl="1">
                <a:spcAft>
                  <a:spcPts val="400"/>
                </a:spcAft>
                <a:buSzPct val="100000"/>
              </a:pPr>
              <a:r>
                <a:rPr lang="en-US" sz="1800" dirty="0">
                  <a:solidFill>
                    <a:srgbClr val="212121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For each word W, scan every cell in every direction</a:t>
              </a:r>
              <a:endParaRPr lang="en-US" sz="1800" dirty="0">
                <a:latin typeface="+mn-lt"/>
              </a:endParaRPr>
            </a:p>
            <a:p>
              <a:pPr marL="342900" lvl="1">
                <a:spcAft>
                  <a:spcPts val="400"/>
                </a:spcAft>
                <a:buSzPct val="100000"/>
              </a:pPr>
              <a:r>
                <a:rPr lang="en-US" sz="1800" dirty="0">
                  <a:solidFill>
                    <a:srgbClr val="212121"/>
                  </a:solidFill>
                  <a:latin typeface="+mn-lt"/>
                  <a:ea typeface="Calibri" pitchFamily="34" charset="-122"/>
                  <a:cs typeface="Calibri" pitchFamily="34" charset="-120"/>
                </a:rPr>
                <a:t>Compare characters one by one — O(N×M×8×L×K)</a:t>
              </a:r>
            </a:p>
            <a:p>
              <a:r>
                <a:rPr lang="en-US" sz="1800" dirty="0"/>
                <a:t>Problems: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/>
                <a:t>Repeats search for each word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/>
                <a:t>Huge number of comparisons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/>
                <a:t>Not scalable for large grids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800" dirty="0"/>
            </a:p>
            <a:p>
              <a:pPr>
                <a:spcAft>
                  <a:spcPts val="400"/>
                </a:spcAft>
                <a:buSzPct val="100000"/>
              </a:pPr>
              <a:r>
                <a:rPr lang="en-US" sz="1600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— 100×100 grid, 1,000 words, avg length 10:</a:t>
              </a:r>
              <a:endParaRPr lang="en-US" sz="1600" dirty="0"/>
            </a:p>
            <a:p>
              <a:pPr marL="685800" lvl="1" indent="-342900">
                <a:spcAft>
                  <a:spcPts val="400"/>
                </a:spcAft>
                <a:buSzPct val="100000"/>
                <a:buChar char="•"/>
              </a:pPr>
              <a:r>
                <a:rPr lang="en-US" sz="1600" b="1" dirty="0">
                  <a:solidFill>
                    <a:srgbClr val="C628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 × 100 × 8 × 10 × 1,000 = 800 million comparisons!</a:t>
              </a:r>
              <a:endParaRPr lang="en-US" sz="1600" dirty="0"/>
            </a:p>
          </p:txBody>
        </p:sp>
      </p:grpSp>
      <p:sp>
        <p:nvSpPr>
          <p:cNvPr id="2" name="Text 3">
            <a:extLst>
              <a:ext uri="{FF2B5EF4-FFF2-40B4-BE49-F238E27FC236}">
                <a16:creationId xmlns:a16="http://schemas.microsoft.com/office/drawing/2014/main" id="{3468020C-293B-9009-0AFE-4B87DA690F73}"/>
              </a:ext>
            </a:extLst>
          </p:cNvPr>
          <p:cNvSpPr/>
          <p:nvPr/>
        </p:nvSpPr>
        <p:spPr>
          <a:xfrm>
            <a:off x="7696200" y="2226945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(relative scale)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6D4DD5-743A-36D6-D297-01F2B5E46067}"/>
              </a:ext>
            </a:extLst>
          </p:cNvPr>
          <p:cNvSpPr/>
          <p:nvPr/>
        </p:nvSpPr>
        <p:spPr>
          <a:xfrm>
            <a:off x="7734300" y="2729865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4FFC934-D604-5F5A-AFC6-97023A627A03}"/>
              </a:ext>
            </a:extLst>
          </p:cNvPr>
          <p:cNvSpPr/>
          <p:nvPr/>
        </p:nvSpPr>
        <p:spPr>
          <a:xfrm>
            <a:off x="7820025" y="3077337"/>
            <a:ext cx="25603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9A085F3-0107-53E4-54CC-AB4ABB1EC136}"/>
              </a:ext>
            </a:extLst>
          </p:cNvPr>
          <p:cNvSpPr/>
          <p:nvPr/>
        </p:nvSpPr>
        <p:spPr>
          <a:xfrm>
            <a:off x="10482072" y="3077337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 ops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D392C00-352A-92AD-4476-5F7C1C3B59F7}"/>
              </a:ext>
            </a:extLst>
          </p:cNvPr>
          <p:cNvSpPr/>
          <p:nvPr/>
        </p:nvSpPr>
        <p:spPr>
          <a:xfrm>
            <a:off x="7734300" y="3735705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+ DFS</a:t>
            </a:r>
            <a:endParaRPr lang="en-US" sz="1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75F45B1-1E1D-1823-B193-DA7BA1E33FB3}"/>
              </a:ext>
            </a:extLst>
          </p:cNvPr>
          <p:cNvSpPr/>
          <p:nvPr/>
        </p:nvSpPr>
        <p:spPr>
          <a:xfrm>
            <a:off x="7839075" y="4216527"/>
            <a:ext cx="46085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B8E356D-F18E-CAB4-B044-2047FDA1659D}"/>
              </a:ext>
            </a:extLst>
          </p:cNvPr>
          <p:cNvSpPr/>
          <p:nvPr/>
        </p:nvSpPr>
        <p:spPr>
          <a:xfrm>
            <a:off x="8477860" y="4197477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~144K ops</a:t>
            </a:r>
            <a:endParaRPr lang="en-US" dirty="0"/>
          </a:p>
        </p:txBody>
      </p:sp>
      <p:sp>
        <p:nvSpPr>
          <p:cNvPr id="13" name="Google Shape;116;p15">
            <a:extLst>
              <a:ext uri="{FF2B5EF4-FFF2-40B4-BE49-F238E27FC236}">
                <a16:creationId xmlns:a16="http://schemas.microsoft.com/office/drawing/2014/main" id="{C158DE1B-09ED-4464-E5BD-48FC9235FB07}"/>
              </a:ext>
            </a:extLst>
          </p:cNvPr>
          <p:cNvSpPr txBox="1"/>
          <p:nvPr/>
        </p:nvSpPr>
        <p:spPr>
          <a:xfrm>
            <a:off x="628650" y="5325124"/>
            <a:ext cx="592388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 words searched in ONE grid traversal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paths instantly when prefix mismatches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complexity: O(N×M×8×L)</a:t>
            </a:r>
            <a:endParaRPr lang="en-US" sz="1800" dirty="0"/>
          </a:p>
        </p:txBody>
      </p:sp>
      <p:sp>
        <p:nvSpPr>
          <p:cNvPr id="14" name="Google Shape;115;p15">
            <a:extLst>
              <a:ext uri="{FF2B5EF4-FFF2-40B4-BE49-F238E27FC236}">
                <a16:creationId xmlns:a16="http://schemas.microsoft.com/office/drawing/2014/main" id="{943594B2-0908-89D6-1DF4-2DB5E68186C1}"/>
              </a:ext>
            </a:extLst>
          </p:cNvPr>
          <p:cNvSpPr txBox="1"/>
          <p:nvPr/>
        </p:nvSpPr>
        <p:spPr>
          <a:xfrm>
            <a:off x="868457" y="4843773"/>
            <a:ext cx="363611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2980B9"/>
                </a:solidFill>
                <a:latin typeface="Roboto"/>
                <a:ea typeface="Roboto"/>
                <a:cs typeface="Roboto"/>
                <a:sym typeface="Roboto"/>
              </a:rPr>
              <a:t>Trie + DFS Advantage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708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847573E3-78D0-3C5A-1568-450B6456F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BD4C7B68-09FC-5EEC-AF2A-3E4D4EB38604}"/>
              </a:ext>
            </a:extLst>
          </p:cNvPr>
          <p:cNvSpPr txBox="1"/>
          <p:nvPr/>
        </p:nvSpPr>
        <p:spPr>
          <a:xfrm>
            <a:off x="771525" y="581025"/>
            <a:ext cx="645107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Proposed Solution Overview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FAFC7140-FD82-33C5-625F-AAD229F7DED2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125FB05-A8B7-0C2B-0591-5C31314398B9}"/>
              </a:ext>
            </a:extLst>
          </p:cNvPr>
          <p:cNvSpPr/>
          <p:nvPr/>
        </p:nvSpPr>
        <p:spPr>
          <a:xfrm>
            <a:off x="1015096" y="1550431"/>
            <a:ext cx="2834640" cy="3474720"/>
          </a:xfrm>
          <a:prstGeom prst="rect">
            <a:avLst/>
          </a:prstGeom>
          <a:solidFill>
            <a:srgbClr val="F5F8FF"/>
          </a:solidFill>
          <a:ln w="19050">
            <a:solidFill>
              <a:srgbClr val="0D2B5E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F5E737-0AC0-DD3D-4F34-9CF44B146B36}"/>
              </a:ext>
            </a:extLst>
          </p:cNvPr>
          <p:cNvSpPr/>
          <p:nvPr/>
        </p:nvSpPr>
        <p:spPr>
          <a:xfrm>
            <a:off x="1015096" y="1550431"/>
            <a:ext cx="2834640" cy="50292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3A036B-3F3C-9077-E040-88054FC0821F}"/>
              </a:ext>
            </a:extLst>
          </p:cNvPr>
          <p:cNvSpPr/>
          <p:nvPr/>
        </p:nvSpPr>
        <p:spPr>
          <a:xfrm>
            <a:off x="1015096" y="1550431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Trie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DE0584-9F88-E039-35B4-8FB7D2CBD694}"/>
              </a:ext>
            </a:extLst>
          </p:cNvPr>
          <p:cNvSpPr/>
          <p:nvPr/>
        </p:nvSpPr>
        <p:spPr>
          <a:xfrm>
            <a:off x="1152256" y="2144791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all K words. Enables O(1)-per-character prefix lookup during DFS.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A01A20-143A-FC30-7234-A94BADCBF171}"/>
              </a:ext>
            </a:extLst>
          </p:cNvPr>
          <p:cNvSpPr/>
          <p:nvPr/>
        </p:nvSpPr>
        <p:spPr>
          <a:xfrm>
            <a:off x="4333560" y="1550427"/>
            <a:ext cx="2834640" cy="3474720"/>
          </a:xfrm>
          <a:prstGeom prst="rect">
            <a:avLst/>
          </a:prstGeom>
          <a:solidFill>
            <a:srgbClr val="F5F8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A8AAFA-CCD9-4CD4-530A-FFD30EBD8283}"/>
              </a:ext>
            </a:extLst>
          </p:cNvPr>
          <p:cNvSpPr/>
          <p:nvPr/>
        </p:nvSpPr>
        <p:spPr>
          <a:xfrm>
            <a:off x="4333560" y="1550427"/>
            <a:ext cx="28346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D5A3404-A11E-E44A-1816-B74C9D32D544}"/>
              </a:ext>
            </a:extLst>
          </p:cNvPr>
          <p:cNvSpPr/>
          <p:nvPr/>
        </p:nvSpPr>
        <p:spPr>
          <a:xfrm>
            <a:off x="4333560" y="155042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DFS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4589BE2-E3B9-BB55-44E3-F581BBCE1793}"/>
              </a:ext>
            </a:extLst>
          </p:cNvPr>
          <p:cNvSpPr/>
          <p:nvPr/>
        </p:nvSpPr>
        <p:spPr>
          <a:xfrm>
            <a:off x="4470720" y="2144787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grid cells from every starting point, following 8 directional edges.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397BC3C-F538-1A8F-D498-46AFF16CD871}"/>
              </a:ext>
            </a:extLst>
          </p:cNvPr>
          <p:cNvSpPr/>
          <p:nvPr/>
        </p:nvSpPr>
        <p:spPr>
          <a:xfrm>
            <a:off x="7663597" y="1550427"/>
            <a:ext cx="2834640" cy="3474720"/>
          </a:xfrm>
          <a:prstGeom prst="rect">
            <a:avLst/>
          </a:prstGeom>
          <a:solidFill>
            <a:srgbClr val="F5F8FF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BA93FA8-B778-D995-E768-A653CB12C8BF}"/>
              </a:ext>
            </a:extLst>
          </p:cNvPr>
          <p:cNvSpPr/>
          <p:nvPr/>
        </p:nvSpPr>
        <p:spPr>
          <a:xfrm>
            <a:off x="7663597" y="1550427"/>
            <a:ext cx="283464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98A630B-FEE6-6D2E-283F-F4923B0F48CC}"/>
              </a:ext>
            </a:extLst>
          </p:cNvPr>
          <p:cNvSpPr/>
          <p:nvPr/>
        </p:nvSpPr>
        <p:spPr>
          <a:xfrm>
            <a:off x="7663597" y="155042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Backtracking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67E31C-22BF-7D71-8399-B446744186E3}"/>
              </a:ext>
            </a:extLst>
          </p:cNvPr>
          <p:cNvSpPr/>
          <p:nvPr/>
        </p:nvSpPr>
        <p:spPr>
          <a:xfrm>
            <a:off x="7800757" y="2144787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Unmarks visited cells on retreat, ensuring no cell is reused within a single word path.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DE801-5760-A69F-EAFC-7AB813F15350}"/>
              </a:ext>
            </a:extLst>
          </p:cNvPr>
          <p:cNvSpPr txBox="1"/>
          <p:nvPr/>
        </p:nvSpPr>
        <p:spPr>
          <a:xfrm>
            <a:off x="1261441" y="5310717"/>
            <a:ext cx="4834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Core Idea:</a:t>
            </a:r>
            <a:endParaRPr lang="en-US" sz="2400" dirty="0"/>
          </a:p>
          <a:p>
            <a:r>
              <a:rPr lang="en-US" sz="2400" dirty="0"/>
              <a:t>Search all words </a:t>
            </a:r>
            <a:r>
              <a:rPr lang="en-US" sz="2400" b="1" dirty="0"/>
              <a:t>simultaneously</a:t>
            </a:r>
            <a:r>
              <a:rPr lang="en-US" sz="2400" dirty="0"/>
              <a:t> </a:t>
            </a:r>
          </a:p>
          <a:p>
            <a:r>
              <a:rPr lang="en-US" sz="2400" dirty="0"/>
              <a:t>Avoid redundant computations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1ACDD5-99DA-CE7A-08D1-8FFB80D04647}"/>
              </a:ext>
            </a:extLst>
          </p:cNvPr>
          <p:cNvSpPr txBox="1"/>
          <p:nvPr/>
        </p:nvSpPr>
        <p:spPr>
          <a:xfrm>
            <a:off x="6989070" y="5547657"/>
            <a:ext cx="4183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Benefit:</a:t>
            </a:r>
          </a:p>
          <a:p>
            <a:r>
              <a:rPr lang="en-US" sz="2000" dirty="0"/>
              <a:t>Efficient pruning of invalid paths</a:t>
            </a:r>
          </a:p>
        </p:txBody>
      </p:sp>
    </p:spTree>
    <p:extLst>
      <p:ext uri="{BB962C8B-B14F-4D97-AF65-F5344CB8AC3E}">
        <p14:creationId xmlns:p14="http://schemas.microsoft.com/office/powerpoint/2010/main" val="2807260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0B9B14EB-58AD-EFFE-58F6-AB9DD8C5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FE6808-294C-3292-7B6D-0170BE4B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47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B93549BE-78C9-3CFB-496D-33F293FA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61D04304-DFB7-E32E-C712-2018CBD3F7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946" y="1425038"/>
            <a:ext cx="6836694" cy="512816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A0FF215-C316-4CC5-543B-99DAD6CD6047}"/>
              </a:ext>
            </a:extLst>
          </p:cNvPr>
          <p:cNvSpPr txBox="1"/>
          <p:nvPr/>
        </p:nvSpPr>
        <p:spPr>
          <a:xfrm>
            <a:off x="771525" y="581025"/>
            <a:ext cx="691216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How The Trie (Prefix Trie) Works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6484FE1B-5D39-03F1-CCE1-C1F286FA8B6F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371C3DC-EFA1-FB05-9405-5323837E3477}"/>
              </a:ext>
            </a:extLst>
          </p:cNvPr>
          <p:cNvSpPr/>
          <p:nvPr/>
        </p:nvSpPr>
        <p:spPr>
          <a:xfrm>
            <a:off x="676274" y="1737361"/>
            <a:ext cx="5846445" cy="4539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= one character + up to 26 children (A–Z)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End-of-word marker at leaf of each word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 O(L) per word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added one by one; shared prefixes share nodes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During DFS  O(1) per character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check: does this char exist in current Trie node?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prune immediately (skip entire direction)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advance Trie pointer, continue DFS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 words checked simultaneously in a single traversal</a:t>
            </a:r>
            <a:endParaRPr lang="en-US" sz="18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6903486E-F4EE-91DA-798F-978FCC10FF38}"/>
              </a:ext>
            </a:extLst>
          </p:cNvPr>
          <p:cNvSpPr/>
          <p:nvPr/>
        </p:nvSpPr>
        <p:spPr>
          <a:xfrm>
            <a:off x="7802880" y="184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Pruning Example</a:t>
            </a:r>
            <a:endParaRPr lang="en-US" sz="20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8AD81DF-FFEC-42D9-A8CD-EF7980AB6658}"/>
              </a:ext>
            </a:extLst>
          </p:cNvPr>
          <p:cNvSpPr/>
          <p:nvPr/>
        </p:nvSpPr>
        <p:spPr>
          <a:xfrm>
            <a:off x="7802880" y="235204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F67437C-AAFD-ED55-AC96-D94AEF98C5E7}"/>
              </a:ext>
            </a:extLst>
          </p:cNvPr>
          <p:cNvSpPr/>
          <p:nvPr/>
        </p:nvSpPr>
        <p:spPr>
          <a:xfrm>
            <a:off x="7802880" y="235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X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B73B013-795D-4037-8A00-194FDD86D9C6}"/>
              </a:ext>
            </a:extLst>
          </p:cNvPr>
          <p:cNvSpPr/>
          <p:nvPr/>
        </p:nvSpPr>
        <p:spPr>
          <a:xfrm>
            <a:off x="8278368" y="2352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not in Trie root children → PRUNE instantly</a:t>
            </a:r>
            <a:endParaRPr lang="en-US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27F06AB-7326-95AF-76A1-93CBD4AA0C0D}"/>
              </a:ext>
            </a:extLst>
          </p:cNvPr>
          <p:cNvSpPr/>
          <p:nvPr/>
        </p:nvSpPr>
        <p:spPr>
          <a:xfrm>
            <a:off x="7802880" y="322072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C92E910-87D6-CA7A-E7EB-6047958B7A22}"/>
              </a:ext>
            </a:extLst>
          </p:cNvPr>
          <p:cNvSpPr/>
          <p:nvPr/>
        </p:nvSpPr>
        <p:spPr>
          <a:xfrm>
            <a:off x="7802880" y="322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88DF6E0-5908-D965-BAA8-5166C54DB7B4}"/>
              </a:ext>
            </a:extLst>
          </p:cNvPr>
          <p:cNvSpPr/>
          <p:nvPr/>
        </p:nvSpPr>
        <p:spPr>
          <a:xfrm>
            <a:off x="8278368" y="32207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found → enter Trie node for C</a:t>
            </a:r>
            <a:endParaRPr lang="en-US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1201467-60C2-C432-D8F3-9AA8ADD248BA}"/>
              </a:ext>
            </a:extLst>
          </p:cNvPr>
          <p:cNvSpPr/>
          <p:nvPr/>
        </p:nvSpPr>
        <p:spPr>
          <a:xfrm>
            <a:off x="7802880" y="40894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794929BD-71A6-F576-A13C-90150ED63E89}"/>
              </a:ext>
            </a:extLst>
          </p:cNvPr>
          <p:cNvSpPr/>
          <p:nvPr/>
        </p:nvSpPr>
        <p:spPr>
          <a:xfrm>
            <a:off x="7802880" y="4089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FF18D21-B0C0-B5EE-8A69-B247C776B61B}"/>
              </a:ext>
            </a:extLst>
          </p:cNvPr>
          <p:cNvSpPr/>
          <p:nvPr/>
        </p:nvSpPr>
        <p:spPr>
          <a:xfrm>
            <a:off x="8278368" y="4089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 → enter Trie node for A</a:t>
            </a:r>
            <a:endParaRPr lang="en-US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DA7FA363-4E48-D30E-DFFA-07D43006F124}"/>
              </a:ext>
            </a:extLst>
          </p:cNvPr>
          <p:cNvSpPr/>
          <p:nvPr/>
        </p:nvSpPr>
        <p:spPr>
          <a:xfrm>
            <a:off x="7802880" y="495808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5666E16-C862-CE25-DD91-D63615F911D3}"/>
              </a:ext>
            </a:extLst>
          </p:cNvPr>
          <p:cNvSpPr/>
          <p:nvPr/>
        </p:nvSpPr>
        <p:spPr>
          <a:xfrm>
            <a:off x="7802880" y="4958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0108E8D9-A94F-B473-5438-196786B3C425}"/>
              </a:ext>
            </a:extLst>
          </p:cNvPr>
          <p:cNvSpPr/>
          <p:nvPr/>
        </p:nvSpPr>
        <p:spPr>
          <a:xfrm>
            <a:off x="8278368" y="4958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found + end marker → WORD FOUND: CAT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35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BEF875B-E786-78E1-D7C9-AB473174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1F5B8CCF-E8AA-D4E1-A3FB-D6BF17F116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52D05BB7-8B7B-F440-45AD-22D05CE1C817}"/>
              </a:ext>
            </a:extLst>
          </p:cNvPr>
          <p:cNvSpPr txBox="1"/>
          <p:nvPr/>
        </p:nvSpPr>
        <p:spPr>
          <a:xfrm>
            <a:off x="305276" y="2297906"/>
            <a:ext cx="11581447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Time and Space Complexity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AB78751A-627C-17D1-54FE-0DD86F6D6BD2}"/>
              </a:ext>
            </a:extLst>
          </p:cNvPr>
          <p:cNvSpPr/>
          <p:nvPr/>
        </p:nvSpPr>
        <p:spPr>
          <a:xfrm>
            <a:off x="5381625" y="3383181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D2EAD976-CE9D-702E-2684-D898A64C6862}"/>
              </a:ext>
            </a:extLst>
          </p:cNvPr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Section - II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2941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DFFBC2C5-9CBD-1487-5356-140A87F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9ADF1ECC-53B8-64AB-D683-D7DE5A3026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946" y="1425039"/>
            <a:ext cx="11476004" cy="4851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B83C65F9-3F52-E7FB-8DDF-B054A8DDA9AE}"/>
              </a:ext>
            </a:extLst>
          </p:cNvPr>
          <p:cNvSpPr txBox="1"/>
          <p:nvPr/>
        </p:nvSpPr>
        <p:spPr>
          <a:xfrm>
            <a:off x="771525" y="581025"/>
            <a:ext cx="622977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Time and Space Complexity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7E5149F0-D31E-2D2D-E6B8-A6695F37441C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5;p15">
            <a:extLst>
              <a:ext uri="{FF2B5EF4-FFF2-40B4-BE49-F238E27FC236}">
                <a16:creationId xmlns:a16="http://schemas.microsoft.com/office/drawing/2014/main" id="{E8CC4BB7-5319-BB06-AE31-C39302BF4BCE}"/>
              </a:ext>
            </a:extLst>
          </p:cNvPr>
          <p:cNvSpPr txBox="1"/>
          <p:nvPr/>
        </p:nvSpPr>
        <p:spPr>
          <a:xfrm>
            <a:off x="622793" y="1605278"/>
            <a:ext cx="22568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2980B9"/>
                </a:solidFill>
                <a:latin typeface="Roboto"/>
                <a:ea typeface="Roboto"/>
                <a:cs typeface="Roboto"/>
                <a:sym typeface="Roboto"/>
              </a:rPr>
              <a:t>Time Complexity</a:t>
            </a:r>
            <a:endParaRPr lang="en-US" sz="24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DEA4BCE-22A9-1360-EAEA-CB8336C4A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945233"/>
              </p:ext>
            </p:extLst>
          </p:nvPr>
        </p:nvGraphicFramePr>
        <p:xfrm>
          <a:off x="1373471" y="2078172"/>
          <a:ext cx="9360954" cy="167713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238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8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3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Phase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Formula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Explanation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Trie Build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O(K × 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 words, avg length 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3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DFS Search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O(N × M × 8 × 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All cells; 8 dirs; depth L; Trie prunes early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O(K·L + N·M·8·L)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Trie build + single traversal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Google Shape;115;p15">
            <a:extLst>
              <a:ext uri="{FF2B5EF4-FFF2-40B4-BE49-F238E27FC236}">
                <a16:creationId xmlns:a16="http://schemas.microsoft.com/office/drawing/2014/main" id="{6DE62EDB-C05E-9389-92FB-6737481120A3}"/>
              </a:ext>
            </a:extLst>
          </p:cNvPr>
          <p:cNvSpPr txBox="1"/>
          <p:nvPr/>
        </p:nvSpPr>
        <p:spPr>
          <a:xfrm>
            <a:off x="626331" y="3937356"/>
            <a:ext cx="22568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2980B9"/>
                </a:solidFill>
                <a:latin typeface="Roboto"/>
                <a:ea typeface="Roboto"/>
                <a:cs typeface="Roboto"/>
                <a:sym typeface="Roboto"/>
              </a:rPr>
              <a:t>Space Complexity</a:t>
            </a:r>
            <a:endParaRPr lang="en-US" sz="24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551DE5F7-E665-1AA9-AF9D-262E6A94D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075309"/>
              </p:ext>
            </p:extLst>
          </p:nvPr>
        </p:nvGraphicFramePr>
        <p:xfrm>
          <a:off x="1379229" y="4369918"/>
          <a:ext cx="9360954" cy="167713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238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8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3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Structure 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Space 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Notes 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Time 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O(K × L x 26)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Worst case: unique chars per level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3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Visited Array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O(N × M)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Boolean per cell; reset on backtrack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Recursion Stack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O(L)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Max depth = longest word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48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641BD8F-09C4-A41E-EC25-85D3C9B7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7B845CA0-6B45-29B2-A55F-91AF193353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956DC826-DBED-F339-3BB3-B14233E3710D}"/>
              </a:ext>
            </a:extLst>
          </p:cNvPr>
          <p:cNvSpPr txBox="1"/>
          <p:nvPr/>
        </p:nvSpPr>
        <p:spPr>
          <a:xfrm>
            <a:off x="305276" y="2297906"/>
            <a:ext cx="11581447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Dry Run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11E256DF-93B4-DFE4-A969-5ED8B95C0DFD}"/>
              </a:ext>
            </a:extLst>
          </p:cNvPr>
          <p:cNvSpPr/>
          <p:nvPr/>
        </p:nvSpPr>
        <p:spPr>
          <a:xfrm>
            <a:off x="5381625" y="3383181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A21D5C7D-5112-4045-0B70-5843A2F61063}"/>
              </a:ext>
            </a:extLst>
          </p:cNvPr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Section - III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651921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379585FF-3874-E231-3133-BD744ED3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24">
            <a:extLst>
              <a:ext uri="{FF2B5EF4-FFF2-40B4-BE49-F238E27FC236}">
                <a16:creationId xmlns:a16="http://schemas.microsoft.com/office/drawing/2014/main" id="{FF89581E-0A81-DA7C-469C-AE49758822BF}"/>
              </a:ext>
            </a:extLst>
          </p:cNvPr>
          <p:cNvSpPr/>
          <p:nvPr/>
        </p:nvSpPr>
        <p:spPr>
          <a:xfrm>
            <a:off x="9725897" y="466435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1" name="Shape 24">
            <a:extLst>
              <a:ext uri="{FF2B5EF4-FFF2-40B4-BE49-F238E27FC236}">
                <a16:creationId xmlns:a16="http://schemas.microsoft.com/office/drawing/2014/main" id="{31CDF479-ABC2-0E73-56EE-AC981BD74509}"/>
              </a:ext>
            </a:extLst>
          </p:cNvPr>
          <p:cNvSpPr/>
          <p:nvPr/>
        </p:nvSpPr>
        <p:spPr>
          <a:xfrm>
            <a:off x="9160072" y="4096475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0" name="Shape 24">
            <a:extLst>
              <a:ext uri="{FF2B5EF4-FFF2-40B4-BE49-F238E27FC236}">
                <a16:creationId xmlns:a16="http://schemas.microsoft.com/office/drawing/2014/main" id="{D47756D2-9A3B-56D7-EE91-794352CE35BF}"/>
              </a:ext>
            </a:extLst>
          </p:cNvPr>
          <p:cNvSpPr/>
          <p:nvPr/>
        </p:nvSpPr>
        <p:spPr>
          <a:xfrm>
            <a:off x="8597140" y="238493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9" name="Shape 24">
            <a:extLst>
              <a:ext uri="{FF2B5EF4-FFF2-40B4-BE49-F238E27FC236}">
                <a16:creationId xmlns:a16="http://schemas.microsoft.com/office/drawing/2014/main" id="{CB9FD6FB-414D-9607-3C9B-28F8ECAB02E2}"/>
              </a:ext>
            </a:extLst>
          </p:cNvPr>
          <p:cNvSpPr/>
          <p:nvPr/>
        </p:nvSpPr>
        <p:spPr>
          <a:xfrm>
            <a:off x="9160436" y="238879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8" name="Shape 24">
            <a:extLst>
              <a:ext uri="{FF2B5EF4-FFF2-40B4-BE49-F238E27FC236}">
                <a16:creationId xmlns:a16="http://schemas.microsoft.com/office/drawing/2014/main" id="{B93FC11E-2E93-AD24-6511-391A1A3B5238}"/>
              </a:ext>
            </a:extLst>
          </p:cNvPr>
          <p:cNvSpPr/>
          <p:nvPr/>
        </p:nvSpPr>
        <p:spPr>
          <a:xfrm>
            <a:off x="9731452" y="238493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7" name="Shape 24">
            <a:extLst>
              <a:ext uri="{FF2B5EF4-FFF2-40B4-BE49-F238E27FC236}">
                <a16:creationId xmlns:a16="http://schemas.microsoft.com/office/drawing/2014/main" id="{46BE341B-EF72-4688-A94E-1BDDFFE72D88}"/>
              </a:ext>
            </a:extLst>
          </p:cNvPr>
          <p:cNvSpPr/>
          <p:nvPr/>
        </p:nvSpPr>
        <p:spPr>
          <a:xfrm>
            <a:off x="10861906" y="3526955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6" name="Shape 24">
            <a:extLst>
              <a:ext uri="{FF2B5EF4-FFF2-40B4-BE49-F238E27FC236}">
                <a16:creationId xmlns:a16="http://schemas.microsoft.com/office/drawing/2014/main" id="{A80FE6F3-422C-B262-0A9A-6EF5D6AAD595}"/>
              </a:ext>
            </a:extLst>
          </p:cNvPr>
          <p:cNvSpPr/>
          <p:nvPr/>
        </p:nvSpPr>
        <p:spPr>
          <a:xfrm>
            <a:off x="10859564" y="295524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166799B3-72C3-AC54-48E5-894635085AB3}"/>
              </a:ext>
            </a:extLst>
          </p:cNvPr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Dry Run</a:t>
            </a:r>
            <a:endParaRPr dirty="0"/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7463FF9D-752A-A389-49DF-97059F425770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5958488-6DF0-7DA6-E81B-33324B578C17}"/>
              </a:ext>
            </a:extLst>
          </p:cNvPr>
          <p:cNvSpPr/>
          <p:nvPr/>
        </p:nvSpPr>
        <p:spPr>
          <a:xfrm>
            <a:off x="8592490" y="239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9CF99A3-AFDF-5BC4-CF43-430D31D78C8D}"/>
              </a:ext>
            </a:extLst>
          </p:cNvPr>
          <p:cNvSpPr/>
          <p:nvPr/>
        </p:nvSpPr>
        <p:spPr>
          <a:xfrm>
            <a:off x="9159418" y="239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58A501E-AC2D-C618-8DB5-E9CE26CA84FC}"/>
              </a:ext>
            </a:extLst>
          </p:cNvPr>
          <p:cNvSpPr/>
          <p:nvPr/>
        </p:nvSpPr>
        <p:spPr>
          <a:xfrm>
            <a:off x="9726346" y="239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61F261C5-5D57-0AB8-F141-4397BFEF81D2}"/>
              </a:ext>
            </a:extLst>
          </p:cNvPr>
          <p:cNvSpPr/>
          <p:nvPr/>
        </p:nvSpPr>
        <p:spPr>
          <a:xfrm>
            <a:off x="10293274" y="239094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D5D61D5-0B52-C3B1-C77F-3977C534B238}"/>
              </a:ext>
            </a:extLst>
          </p:cNvPr>
          <p:cNvSpPr/>
          <p:nvPr/>
        </p:nvSpPr>
        <p:spPr>
          <a:xfrm>
            <a:off x="10293274" y="239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9621E5D-0F10-CDA8-1ED9-17982EFE943D}"/>
              </a:ext>
            </a:extLst>
          </p:cNvPr>
          <p:cNvSpPr/>
          <p:nvPr/>
        </p:nvSpPr>
        <p:spPr>
          <a:xfrm>
            <a:off x="11427130" y="239094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1DB7B13-97A8-B42C-C0C9-7A1425001D27}"/>
              </a:ext>
            </a:extLst>
          </p:cNvPr>
          <p:cNvSpPr/>
          <p:nvPr/>
        </p:nvSpPr>
        <p:spPr>
          <a:xfrm>
            <a:off x="11427130" y="239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5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33CACCA-1413-C5FE-3549-27B270F99825}"/>
              </a:ext>
            </a:extLst>
          </p:cNvPr>
          <p:cNvSpPr/>
          <p:nvPr/>
        </p:nvSpPr>
        <p:spPr>
          <a:xfrm>
            <a:off x="8592490" y="295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48A3CD7-F76E-7DBA-60C6-CCEE540BCDCC}"/>
              </a:ext>
            </a:extLst>
          </p:cNvPr>
          <p:cNvSpPr/>
          <p:nvPr/>
        </p:nvSpPr>
        <p:spPr>
          <a:xfrm>
            <a:off x="8592490" y="295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5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9AA5FBF-AFB7-2556-B1EF-48242B3C7DBC}"/>
              </a:ext>
            </a:extLst>
          </p:cNvPr>
          <p:cNvSpPr/>
          <p:nvPr/>
        </p:nvSpPr>
        <p:spPr>
          <a:xfrm>
            <a:off x="9159418" y="295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E7DB8C4-AE77-CD1D-C98B-9B31ED8EB162}"/>
              </a:ext>
            </a:extLst>
          </p:cNvPr>
          <p:cNvSpPr/>
          <p:nvPr/>
        </p:nvSpPr>
        <p:spPr>
          <a:xfrm>
            <a:off x="9159418" y="295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5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6DCD259-C4D8-7D95-8711-7889D6B0E5F2}"/>
              </a:ext>
            </a:extLst>
          </p:cNvPr>
          <p:cNvSpPr/>
          <p:nvPr/>
        </p:nvSpPr>
        <p:spPr>
          <a:xfrm>
            <a:off x="9726346" y="295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9AECC89-82D8-C661-3E26-7E57A4FE9302}"/>
              </a:ext>
            </a:extLst>
          </p:cNvPr>
          <p:cNvSpPr/>
          <p:nvPr/>
        </p:nvSpPr>
        <p:spPr>
          <a:xfrm>
            <a:off x="9726346" y="295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5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B9E29146-9A39-22AF-4CEE-2F7BD863F87B}"/>
              </a:ext>
            </a:extLst>
          </p:cNvPr>
          <p:cNvSpPr/>
          <p:nvPr/>
        </p:nvSpPr>
        <p:spPr>
          <a:xfrm>
            <a:off x="10293274" y="295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04609CA-8C38-EDEB-457C-F88E3E51D917}"/>
              </a:ext>
            </a:extLst>
          </p:cNvPr>
          <p:cNvSpPr/>
          <p:nvPr/>
        </p:nvSpPr>
        <p:spPr>
          <a:xfrm>
            <a:off x="10293274" y="295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5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16EF7511-9F49-524E-759B-5840F4B70149}"/>
              </a:ext>
            </a:extLst>
          </p:cNvPr>
          <p:cNvSpPr/>
          <p:nvPr/>
        </p:nvSpPr>
        <p:spPr>
          <a:xfrm>
            <a:off x="10860202" y="295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D09E4F01-5652-3D70-0977-129C90649395}"/>
              </a:ext>
            </a:extLst>
          </p:cNvPr>
          <p:cNvSpPr/>
          <p:nvPr/>
        </p:nvSpPr>
        <p:spPr>
          <a:xfrm>
            <a:off x="11427130" y="295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FD346AF-B46F-FF98-55E3-DF4E3FC2E254}"/>
              </a:ext>
            </a:extLst>
          </p:cNvPr>
          <p:cNvSpPr/>
          <p:nvPr/>
        </p:nvSpPr>
        <p:spPr>
          <a:xfrm>
            <a:off x="11427130" y="295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5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338D55BA-5C00-7086-8B0B-A4C57A7433A6}"/>
              </a:ext>
            </a:extLst>
          </p:cNvPr>
          <p:cNvSpPr/>
          <p:nvPr/>
        </p:nvSpPr>
        <p:spPr>
          <a:xfrm>
            <a:off x="8592490" y="3524800"/>
            <a:ext cx="539496" cy="539496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B671526B-2D10-FEB7-6836-9002B37EB9B9}"/>
              </a:ext>
            </a:extLst>
          </p:cNvPr>
          <p:cNvSpPr/>
          <p:nvPr/>
        </p:nvSpPr>
        <p:spPr>
          <a:xfrm>
            <a:off x="8592490" y="352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5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636CD58-8370-A33F-2CA6-EAE0FA126020}"/>
              </a:ext>
            </a:extLst>
          </p:cNvPr>
          <p:cNvSpPr/>
          <p:nvPr/>
        </p:nvSpPr>
        <p:spPr>
          <a:xfrm>
            <a:off x="9159418" y="352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056D84AF-6B85-C5DA-7C62-C1BDBD91159D}"/>
              </a:ext>
            </a:extLst>
          </p:cNvPr>
          <p:cNvSpPr/>
          <p:nvPr/>
        </p:nvSpPr>
        <p:spPr>
          <a:xfrm>
            <a:off x="9159418" y="352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5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5C4096FC-8494-F6CE-5320-399E48CE469A}"/>
              </a:ext>
            </a:extLst>
          </p:cNvPr>
          <p:cNvSpPr/>
          <p:nvPr/>
        </p:nvSpPr>
        <p:spPr>
          <a:xfrm>
            <a:off x="9726346" y="352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4CDD319E-4E2D-6833-1EB4-2DF01BE59066}"/>
              </a:ext>
            </a:extLst>
          </p:cNvPr>
          <p:cNvSpPr/>
          <p:nvPr/>
        </p:nvSpPr>
        <p:spPr>
          <a:xfrm>
            <a:off x="9726346" y="352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50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EFE11C0B-0928-8E52-79FE-8643811A5766}"/>
              </a:ext>
            </a:extLst>
          </p:cNvPr>
          <p:cNvSpPr/>
          <p:nvPr/>
        </p:nvSpPr>
        <p:spPr>
          <a:xfrm>
            <a:off x="10293274" y="352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01DCBE-2C8B-2549-A041-5201A5A991B2}"/>
              </a:ext>
            </a:extLst>
          </p:cNvPr>
          <p:cNvSpPr/>
          <p:nvPr/>
        </p:nvSpPr>
        <p:spPr>
          <a:xfrm>
            <a:off x="10293274" y="352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2787B7E6-5F51-4EAF-2690-3A4EF1B61026}"/>
              </a:ext>
            </a:extLst>
          </p:cNvPr>
          <p:cNvSpPr/>
          <p:nvPr/>
        </p:nvSpPr>
        <p:spPr>
          <a:xfrm>
            <a:off x="10860202" y="352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D1FC0622-D23F-C947-53BB-5615955AA7FA}"/>
              </a:ext>
            </a:extLst>
          </p:cNvPr>
          <p:cNvSpPr/>
          <p:nvPr/>
        </p:nvSpPr>
        <p:spPr>
          <a:xfrm>
            <a:off x="11427130" y="352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53694BFA-B044-AB37-034E-6FB7AE72C100}"/>
              </a:ext>
            </a:extLst>
          </p:cNvPr>
          <p:cNvSpPr/>
          <p:nvPr/>
        </p:nvSpPr>
        <p:spPr>
          <a:xfrm>
            <a:off x="11427130" y="352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50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50030709-BC8C-6B4F-36EA-1E4C9A245711}"/>
              </a:ext>
            </a:extLst>
          </p:cNvPr>
          <p:cNvSpPr/>
          <p:nvPr/>
        </p:nvSpPr>
        <p:spPr>
          <a:xfrm>
            <a:off x="8592490" y="409172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1AA54CA8-849D-E82D-9C18-1D8B5F29C96F}"/>
              </a:ext>
            </a:extLst>
          </p:cNvPr>
          <p:cNvSpPr/>
          <p:nvPr/>
        </p:nvSpPr>
        <p:spPr>
          <a:xfrm>
            <a:off x="8592490" y="409172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500" dirty="0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A18BB24F-1360-29B7-6CF7-E88967D88728}"/>
              </a:ext>
            </a:extLst>
          </p:cNvPr>
          <p:cNvSpPr/>
          <p:nvPr/>
        </p:nvSpPr>
        <p:spPr>
          <a:xfrm>
            <a:off x="9159418" y="409172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C99E0D0B-C237-6C14-864E-B25E103C4113}"/>
              </a:ext>
            </a:extLst>
          </p:cNvPr>
          <p:cNvSpPr/>
          <p:nvPr/>
        </p:nvSpPr>
        <p:spPr>
          <a:xfrm>
            <a:off x="9726346" y="409172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1AA127EE-490E-A4CA-8E95-1B242AEBCCF9}"/>
              </a:ext>
            </a:extLst>
          </p:cNvPr>
          <p:cNvSpPr/>
          <p:nvPr/>
        </p:nvSpPr>
        <p:spPr>
          <a:xfrm>
            <a:off x="9726346" y="409172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500" dirty="0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C39370A1-FB19-D56E-5CCE-B0C376A8DF63}"/>
              </a:ext>
            </a:extLst>
          </p:cNvPr>
          <p:cNvSpPr/>
          <p:nvPr/>
        </p:nvSpPr>
        <p:spPr>
          <a:xfrm>
            <a:off x="10293274" y="409172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7A9417FB-F964-581E-B503-17C7D3A34783}"/>
              </a:ext>
            </a:extLst>
          </p:cNvPr>
          <p:cNvSpPr/>
          <p:nvPr/>
        </p:nvSpPr>
        <p:spPr>
          <a:xfrm>
            <a:off x="10293274" y="409172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1ABF110-C47F-682B-FB86-CC800D6445D0}"/>
              </a:ext>
            </a:extLst>
          </p:cNvPr>
          <p:cNvSpPr/>
          <p:nvPr/>
        </p:nvSpPr>
        <p:spPr>
          <a:xfrm>
            <a:off x="10860202" y="409172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EA2755AB-97DC-316E-1FE9-1A65C136FCF7}"/>
              </a:ext>
            </a:extLst>
          </p:cNvPr>
          <p:cNvSpPr/>
          <p:nvPr/>
        </p:nvSpPr>
        <p:spPr>
          <a:xfrm>
            <a:off x="10860202" y="409172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500" dirty="0"/>
          </a:p>
        </p:txBody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22921CD4-DD84-DAFD-F428-F77286068E79}"/>
              </a:ext>
            </a:extLst>
          </p:cNvPr>
          <p:cNvSpPr/>
          <p:nvPr/>
        </p:nvSpPr>
        <p:spPr>
          <a:xfrm>
            <a:off x="11427130" y="409172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DEC28426-BA3F-5BE4-365D-5042A2350B52}"/>
              </a:ext>
            </a:extLst>
          </p:cNvPr>
          <p:cNvSpPr/>
          <p:nvPr/>
        </p:nvSpPr>
        <p:spPr>
          <a:xfrm>
            <a:off x="11427130" y="409172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500" dirty="0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94F04793-6242-EC3E-EE57-57D960E0BD75}"/>
              </a:ext>
            </a:extLst>
          </p:cNvPr>
          <p:cNvSpPr/>
          <p:nvPr/>
        </p:nvSpPr>
        <p:spPr>
          <a:xfrm>
            <a:off x="8592490" y="465865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B84A41AE-D929-E84C-6C35-ECFCCDC3D7ED}"/>
              </a:ext>
            </a:extLst>
          </p:cNvPr>
          <p:cNvSpPr/>
          <p:nvPr/>
        </p:nvSpPr>
        <p:spPr>
          <a:xfrm>
            <a:off x="8592490" y="465865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53" name="Shape 52">
            <a:extLst>
              <a:ext uri="{FF2B5EF4-FFF2-40B4-BE49-F238E27FC236}">
                <a16:creationId xmlns:a16="http://schemas.microsoft.com/office/drawing/2014/main" id="{6F9FF6BB-13DD-C935-BCB9-633D9089DC74}"/>
              </a:ext>
            </a:extLst>
          </p:cNvPr>
          <p:cNvSpPr/>
          <p:nvPr/>
        </p:nvSpPr>
        <p:spPr>
          <a:xfrm>
            <a:off x="9159418" y="465865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3C262E7A-F402-0EB9-A193-8F187C293FBA}"/>
              </a:ext>
            </a:extLst>
          </p:cNvPr>
          <p:cNvSpPr/>
          <p:nvPr/>
        </p:nvSpPr>
        <p:spPr>
          <a:xfrm>
            <a:off x="9159418" y="465865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500" dirty="0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DFC85E7E-6E63-CB0B-D869-A044B297BBED}"/>
              </a:ext>
            </a:extLst>
          </p:cNvPr>
          <p:cNvSpPr/>
          <p:nvPr/>
        </p:nvSpPr>
        <p:spPr>
          <a:xfrm>
            <a:off x="9726346" y="465865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57" name="Shape 56">
            <a:extLst>
              <a:ext uri="{FF2B5EF4-FFF2-40B4-BE49-F238E27FC236}">
                <a16:creationId xmlns:a16="http://schemas.microsoft.com/office/drawing/2014/main" id="{492D6241-AE95-8887-C5B7-E255EEC2C74A}"/>
              </a:ext>
            </a:extLst>
          </p:cNvPr>
          <p:cNvSpPr/>
          <p:nvPr/>
        </p:nvSpPr>
        <p:spPr>
          <a:xfrm>
            <a:off x="10293274" y="465865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Text 57">
            <a:extLst>
              <a:ext uri="{FF2B5EF4-FFF2-40B4-BE49-F238E27FC236}">
                <a16:creationId xmlns:a16="http://schemas.microsoft.com/office/drawing/2014/main" id="{C732F02B-414C-62EC-3E15-5E89348F580A}"/>
              </a:ext>
            </a:extLst>
          </p:cNvPr>
          <p:cNvSpPr/>
          <p:nvPr/>
        </p:nvSpPr>
        <p:spPr>
          <a:xfrm>
            <a:off x="10293274" y="465865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500" dirty="0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F3FA0444-85C9-C5B4-7F98-6A62458F1DBA}"/>
              </a:ext>
            </a:extLst>
          </p:cNvPr>
          <p:cNvSpPr/>
          <p:nvPr/>
        </p:nvSpPr>
        <p:spPr>
          <a:xfrm>
            <a:off x="10860202" y="465865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56DCBAF4-B062-F793-9B57-B50260246B00}"/>
              </a:ext>
            </a:extLst>
          </p:cNvPr>
          <p:cNvSpPr/>
          <p:nvPr/>
        </p:nvSpPr>
        <p:spPr>
          <a:xfrm>
            <a:off x="10860202" y="465865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500" dirty="0"/>
          </a:p>
        </p:txBody>
      </p:sp>
      <p:sp>
        <p:nvSpPr>
          <p:cNvPr id="61" name="Shape 60">
            <a:extLst>
              <a:ext uri="{FF2B5EF4-FFF2-40B4-BE49-F238E27FC236}">
                <a16:creationId xmlns:a16="http://schemas.microsoft.com/office/drawing/2014/main" id="{F8968074-F1E2-A164-4403-8421FFEF6F3A}"/>
              </a:ext>
            </a:extLst>
          </p:cNvPr>
          <p:cNvSpPr/>
          <p:nvPr/>
        </p:nvSpPr>
        <p:spPr>
          <a:xfrm>
            <a:off x="11427130" y="465865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Text 61">
            <a:extLst>
              <a:ext uri="{FF2B5EF4-FFF2-40B4-BE49-F238E27FC236}">
                <a16:creationId xmlns:a16="http://schemas.microsoft.com/office/drawing/2014/main" id="{D115DF05-474F-F50C-1A0F-A1F25FE0BD6A}"/>
              </a:ext>
            </a:extLst>
          </p:cNvPr>
          <p:cNvSpPr/>
          <p:nvPr/>
        </p:nvSpPr>
        <p:spPr>
          <a:xfrm>
            <a:off x="11427130" y="465865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500" dirty="0"/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B043F144-6083-CF8F-E4F2-DA0C7F416933}"/>
              </a:ext>
            </a:extLst>
          </p:cNvPr>
          <p:cNvSpPr/>
          <p:nvPr/>
        </p:nvSpPr>
        <p:spPr>
          <a:xfrm>
            <a:off x="10863907" y="238431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0" name="Text 13">
            <a:extLst>
              <a:ext uri="{FF2B5EF4-FFF2-40B4-BE49-F238E27FC236}">
                <a16:creationId xmlns:a16="http://schemas.microsoft.com/office/drawing/2014/main" id="{817DF6DF-B62B-C794-580E-4CE918E35FA5}"/>
              </a:ext>
            </a:extLst>
          </p:cNvPr>
          <p:cNvSpPr/>
          <p:nvPr/>
        </p:nvSpPr>
        <p:spPr>
          <a:xfrm>
            <a:off x="10863917" y="238794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</a:rPr>
              <a:t>D</a:t>
            </a:r>
            <a:endParaRPr lang="en-US" sz="1500" dirty="0"/>
          </a:p>
        </p:txBody>
      </p:sp>
      <p:graphicFrame>
        <p:nvGraphicFramePr>
          <p:cNvPr id="156" name="Table 155">
            <a:extLst>
              <a:ext uri="{FF2B5EF4-FFF2-40B4-BE49-F238E27FC236}">
                <a16:creationId xmlns:a16="http://schemas.microsoft.com/office/drawing/2014/main" id="{B65CDACE-DA49-3695-32AA-E86DABC1E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421576"/>
              </p:ext>
            </p:extLst>
          </p:nvPr>
        </p:nvGraphicFramePr>
        <p:xfrm>
          <a:off x="428262" y="1342664"/>
          <a:ext cx="7833408" cy="4826644"/>
        </p:xfrm>
        <a:graphic>
          <a:graphicData uri="http://schemas.openxmlformats.org/drawingml/2006/table">
            <a:tbl>
              <a:tblPr firstRow="1" firstCol="1" bandRow="1"/>
              <a:tblGrid>
                <a:gridCol w="1118815">
                  <a:extLst>
                    <a:ext uri="{9D8B030D-6E8A-4147-A177-3AD203B41FA5}">
                      <a16:colId xmlns:a16="http://schemas.microsoft.com/office/drawing/2014/main" val="77865998"/>
                    </a:ext>
                  </a:extLst>
                </a:gridCol>
                <a:gridCol w="1118815">
                  <a:extLst>
                    <a:ext uri="{9D8B030D-6E8A-4147-A177-3AD203B41FA5}">
                      <a16:colId xmlns:a16="http://schemas.microsoft.com/office/drawing/2014/main" val="4165868703"/>
                    </a:ext>
                  </a:extLst>
                </a:gridCol>
                <a:gridCol w="1118815">
                  <a:extLst>
                    <a:ext uri="{9D8B030D-6E8A-4147-A177-3AD203B41FA5}">
                      <a16:colId xmlns:a16="http://schemas.microsoft.com/office/drawing/2014/main" val="3438887880"/>
                    </a:ext>
                  </a:extLst>
                </a:gridCol>
                <a:gridCol w="1118815">
                  <a:extLst>
                    <a:ext uri="{9D8B030D-6E8A-4147-A177-3AD203B41FA5}">
                      <a16:colId xmlns:a16="http://schemas.microsoft.com/office/drawing/2014/main" val="689584567"/>
                    </a:ext>
                  </a:extLst>
                </a:gridCol>
                <a:gridCol w="1118815">
                  <a:extLst>
                    <a:ext uri="{9D8B030D-6E8A-4147-A177-3AD203B41FA5}">
                      <a16:colId xmlns:a16="http://schemas.microsoft.com/office/drawing/2014/main" val="2657889391"/>
                    </a:ext>
                  </a:extLst>
                </a:gridCol>
                <a:gridCol w="1118815">
                  <a:extLst>
                    <a:ext uri="{9D8B030D-6E8A-4147-A177-3AD203B41FA5}">
                      <a16:colId xmlns:a16="http://schemas.microsoft.com/office/drawing/2014/main" val="2467808230"/>
                    </a:ext>
                  </a:extLst>
                </a:gridCol>
                <a:gridCol w="1120518">
                  <a:extLst>
                    <a:ext uri="{9D8B030D-6E8A-4147-A177-3AD203B41FA5}">
                      <a16:colId xmlns:a16="http://schemas.microsoft.com/office/drawing/2014/main" val="278062325"/>
                    </a:ext>
                  </a:extLst>
                </a:gridCol>
              </a:tblGrid>
              <a:tr h="63967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Attempt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Direction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Cell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Letter Checked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Grid Letter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Match?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Action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7150" marB="57150"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655293"/>
                  </a:ext>
                </a:extLst>
              </a:tr>
              <a:tr h="6202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RIGHT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(R2,C1)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 (2nd letter)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✗ NO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PRUNE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328255"/>
                  </a:ext>
                </a:extLst>
              </a:tr>
              <a:tr h="8529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LEFT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(R2,C-1)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—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—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✗ NO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Out of bounds — skip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09147"/>
                  </a:ext>
                </a:extLst>
              </a:tr>
              <a:tr h="6202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DOWN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(R3,C0)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 (2nd letter)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✗ NO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PRUNE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75865"/>
                  </a:ext>
                </a:extLst>
              </a:tr>
              <a:tr h="6202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UP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(R1,C0)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 (2nd letter)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✗ NO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PRUNE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15408"/>
                  </a:ext>
                </a:extLst>
              </a:tr>
              <a:tr h="8529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DOWN-RIGHT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(R3,C1)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 (2nd letter)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✓ YES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Continue DOWN-RIGHT ↘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051408"/>
                  </a:ext>
                </a:extLst>
              </a:tr>
              <a:tr h="6202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6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DOWN-RIGHT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(R4,C2)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 (3rd letter)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✓ YES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All letters matched!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106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609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Dry Run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2425EBC-84F0-B93D-D47F-6D14CFFE4629}"/>
              </a:ext>
            </a:extLst>
          </p:cNvPr>
          <p:cNvSpPr/>
          <p:nvPr/>
        </p:nvSpPr>
        <p:spPr>
          <a:xfrm>
            <a:off x="1581679" y="1897088"/>
            <a:ext cx="539496" cy="539496"/>
          </a:xfrm>
          <a:prstGeom prst="rect">
            <a:avLst/>
          </a:prstGeom>
          <a:solidFill>
            <a:srgbClr val="2E7D3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C32F3B2-0F7A-068B-387C-E599BDECC075}"/>
              </a:ext>
            </a:extLst>
          </p:cNvPr>
          <p:cNvSpPr/>
          <p:nvPr/>
        </p:nvSpPr>
        <p:spPr>
          <a:xfrm>
            <a:off x="1581679" y="189708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6D30EED-F5FA-99B9-6B3C-DE3A5F70402C}"/>
              </a:ext>
            </a:extLst>
          </p:cNvPr>
          <p:cNvSpPr/>
          <p:nvPr/>
        </p:nvSpPr>
        <p:spPr>
          <a:xfrm>
            <a:off x="2148607" y="1897088"/>
            <a:ext cx="539496" cy="539496"/>
          </a:xfrm>
          <a:prstGeom prst="rect">
            <a:avLst/>
          </a:prstGeom>
          <a:solidFill>
            <a:srgbClr val="2E7D3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5FF0F78-EFB5-463B-50FA-6736FDA2882A}"/>
              </a:ext>
            </a:extLst>
          </p:cNvPr>
          <p:cNvSpPr/>
          <p:nvPr/>
        </p:nvSpPr>
        <p:spPr>
          <a:xfrm>
            <a:off x="2148607" y="189708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EA14D40-1661-922B-97CB-034599715B7B}"/>
              </a:ext>
            </a:extLst>
          </p:cNvPr>
          <p:cNvSpPr/>
          <p:nvPr/>
        </p:nvSpPr>
        <p:spPr>
          <a:xfrm>
            <a:off x="2715535" y="1897088"/>
            <a:ext cx="539496" cy="539496"/>
          </a:xfrm>
          <a:prstGeom prst="rect">
            <a:avLst/>
          </a:prstGeom>
          <a:solidFill>
            <a:srgbClr val="2E7D32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BC0BCCC-4C9D-832D-F79C-BE4B84BD8890}"/>
              </a:ext>
            </a:extLst>
          </p:cNvPr>
          <p:cNvSpPr/>
          <p:nvPr/>
        </p:nvSpPr>
        <p:spPr>
          <a:xfrm>
            <a:off x="2715535" y="189708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5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9672B76-7AA0-6E64-9C1B-42AE18FCDBF6}"/>
              </a:ext>
            </a:extLst>
          </p:cNvPr>
          <p:cNvSpPr/>
          <p:nvPr/>
        </p:nvSpPr>
        <p:spPr>
          <a:xfrm>
            <a:off x="3282463" y="189708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27E7DD2-610C-2FAB-1CBE-72CCD773302E}"/>
              </a:ext>
            </a:extLst>
          </p:cNvPr>
          <p:cNvSpPr/>
          <p:nvPr/>
        </p:nvSpPr>
        <p:spPr>
          <a:xfrm>
            <a:off x="3282463" y="189708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0BB7A71-93CB-EC84-8853-2583F5833029}"/>
              </a:ext>
            </a:extLst>
          </p:cNvPr>
          <p:cNvSpPr/>
          <p:nvPr/>
        </p:nvSpPr>
        <p:spPr>
          <a:xfrm>
            <a:off x="3849391" y="1897088"/>
            <a:ext cx="539496" cy="539496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8C15A48-CF92-31C3-C791-58F49F78B344}"/>
              </a:ext>
            </a:extLst>
          </p:cNvPr>
          <p:cNvSpPr/>
          <p:nvPr/>
        </p:nvSpPr>
        <p:spPr>
          <a:xfrm>
            <a:off x="3849391" y="189708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5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121993CD-08E4-410A-C28F-33F21CCD3556}"/>
              </a:ext>
            </a:extLst>
          </p:cNvPr>
          <p:cNvSpPr/>
          <p:nvPr/>
        </p:nvSpPr>
        <p:spPr>
          <a:xfrm>
            <a:off x="4416319" y="1897088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87F5DF61-D238-B48A-F899-0B978FB43057}"/>
              </a:ext>
            </a:extLst>
          </p:cNvPr>
          <p:cNvSpPr/>
          <p:nvPr/>
        </p:nvSpPr>
        <p:spPr>
          <a:xfrm>
            <a:off x="4416319" y="1897088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5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F1B58174-B7F2-2614-7A90-1693EE0B8517}"/>
              </a:ext>
            </a:extLst>
          </p:cNvPr>
          <p:cNvSpPr/>
          <p:nvPr/>
        </p:nvSpPr>
        <p:spPr>
          <a:xfrm>
            <a:off x="1581679" y="246401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4A945595-867E-F33B-19E4-D3F55E2A6B94}"/>
              </a:ext>
            </a:extLst>
          </p:cNvPr>
          <p:cNvSpPr/>
          <p:nvPr/>
        </p:nvSpPr>
        <p:spPr>
          <a:xfrm>
            <a:off x="1581679" y="246401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5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06A8527-B6C7-53C7-273C-262402D0192A}"/>
              </a:ext>
            </a:extLst>
          </p:cNvPr>
          <p:cNvSpPr/>
          <p:nvPr/>
        </p:nvSpPr>
        <p:spPr>
          <a:xfrm>
            <a:off x="2148607" y="246401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7A8B3A2A-86A5-617F-4048-3F9A91333065}"/>
              </a:ext>
            </a:extLst>
          </p:cNvPr>
          <p:cNvSpPr/>
          <p:nvPr/>
        </p:nvSpPr>
        <p:spPr>
          <a:xfrm>
            <a:off x="2148607" y="246401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5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2D9C11B-C540-3CC5-34DD-FF96D17EA431}"/>
              </a:ext>
            </a:extLst>
          </p:cNvPr>
          <p:cNvSpPr/>
          <p:nvPr/>
        </p:nvSpPr>
        <p:spPr>
          <a:xfrm>
            <a:off x="2715535" y="246401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6FC457D-7FF7-6B83-AEA9-53F8F7A0DAD3}"/>
              </a:ext>
            </a:extLst>
          </p:cNvPr>
          <p:cNvSpPr/>
          <p:nvPr/>
        </p:nvSpPr>
        <p:spPr>
          <a:xfrm>
            <a:off x="2715535" y="246401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5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AA6A2F83-94B8-639D-A270-8A0FB0096F5A}"/>
              </a:ext>
            </a:extLst>
          </p:cNvPr>
          <p:cNvSpPr/>
          <p:nvPr/>
        </p:nvSpPr>
        <p:spPr>
          <a:xfrm>
            <a:off x="3282463" y="246401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B95A2826-D151-BCBD-464A-31D728DE586D}"/>
              </a:ext>
            </a:extLst>
          </p:cNvPr>
          <p:cNvSpPr/>
          <p:nvPr/>
        </p:nvSpPr>
        <p:spPr>
          <a:xfrm>
            <a:off x="3282463" y="246401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5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699EFCB4-0149-3060-7997-C3ECC3A94943}"/>
              </a:ext>
            </a:extLst>
          </p:cNvPr>
          <p:cNvSpPr/>
          <p:nvPr/>
        </p:nvSpPr>
        <p:spPr>
          <a:xfrm>
            <a:off x="3849391" y="2464016"/>
            <a:ext cx="539496" cy="539496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03991845-6858-BE99-79C0-D1A2005E6FD3}"/>
              </a:ext>
            </a:extLst>
          </p:cNvPr>
          <p:cNvSpPr/>
          <p:nvPr/>
        </p:nvSpPr>
        <p:spPr>
          <a:xfrm>
            <a:off x="3849391" y="246401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5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D19D6ECD-6997-4DD5-8D5B-819A70AC2D39}"/>
              </a:ext>
            </a:extLst>
          </p:cNvPr>
          <p:cNvSpPr/>
          <p:nvPr/>
        </p:nvSpPr>
        <p:spPr>
          <a:xfrm>
            <a:off x="4416319" y="2464016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FF5BA935-5AB1-4145-562D-2FF9C2A0DF66}"/>
              </a:ext>
            </a:extLst>
          </p:cNvPr>
          <p:cNvSpPr/>
          <p:nvPr/>
        </p:nvSpPr>
        <p:spPr>
          <a:xfrm>
            <a:off x="4416319" y="2464016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5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E4837A0E-012E-B3B8-1504-EB91624BE137}"/>
              </a:ext>
            </a:extLst>
          </p:cNvPr>
          <p:cNvSpPr/>
          <p:nvPr/>
        </p:nvSpPr>
        <p:spPr>
          <a:xfrm>
            <a:off x="1581679" y="3030944"/>
            <a:ext cx="539496" cy="539496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6EC5654-32D9-A9FF-FA38-E9DBFED1481D}"/>
              </a:ext>
            </a:extLst>
          </p:cNvPr>
          <p:cNvSpPr/>
          <p:nvPr/>
        </p:nvSpPr>
        <p:spPr>
          <a:xfrm>
            <a:off x="1581679" y="303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5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524ADA36-29DE-5ADD-01EA-434EF4F3094E}"/>
              </a:ext>
            </a:extLst>
          </p:cNvPr>
          <p:cNvSpPr/>
          <p:nvPr/>
        </p:nvSpPr>
        <p:spPr>
          <a:xfrm>
            <a:off x="2148607" y="303094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49FEB5A6-282D-7D23-85C9-3BD6F466D52A}"/>
              </a:ext>
            </a:extLst>
          </p:cNvPr>
          <p:cNvSpPr/>
          <p:nvPr/>
        </p:nvSpPr>
        <p:spPr>
          <a:xfrm>
            <a:off x="2148607" y="303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5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85DA717A-869B-3D89-2DA9-7B86FF6C8612}"/>
              </a:ext>
            </a:extLst>
          </p:cNvPr>
          <p:cNvSpPr/>
          <p:nvPr/>
        </p:nvSpPr>
        <p:spPr>
          <a:xfrm>
            <a:off x="2715535" y="303094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25333E49-284C-8EF7-AC5D-FE347CD30DCD}"/>
              </a:ext>
            </a:extLst>
          </p:cNvPr>
          <p:cNvSpPr/>
          <p:nvPr/>
        </p:nvSpPr>
        <p:spPr>
          <a:xfrm>
            <a:off x="2715535" y="303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50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E5211A6D-3E27-7028-D16E-7FDE89C2ED20}"/>
              </a:ext>
            </a:extLst>
          </p:cNvPr>
          <p:cNvSpPr/>
          <p:nvPr/>
        </p:nvSpPr>
        <p:spPr>
          <a:xfrm>
            <a:off x="3282463" y="303094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4F513910-A710-4639-912B-9B2F53C070E5}"/>
              </a:ext>
            </a:extLst>
          </p:cNvPr>
          <p:cNvSpPr/>
          <p:nvPr/>
        </p:nvSpPr>
        <p:spPr>
          <a:xfrm>
            <a:off x="3282463" y="303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5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DC70F217-E4C8-3EBC-F216-CD9E57BC991D}"/>
              </a:ext>
            </a:extLst>
          </p:cNvPr>
          <p:cNvSpPr/>
          <p:nvPr/>
        </p:nvSpPr>
        <p:spPr>
          <a:xfrm>
            <a:off x="3849391" y="3030944"/>
            <a:ext cx="539496" cy="539496"/>
          </a:xfrm>
          <a:prstGeom prst="rect">
            <a:avLst/>
          </a:prstGeom>
          <a:solidFill>
            <a:srgbClr val="1565C0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A772F980-0591-4AE3-AE00-3887C26036E7}"/>
              </a:ext>
            </a:extLst>
          </p:cNvPr>
          <p:cNvSpPr/>
          <p:nvPr/>
        </p:nvSpPr>
        <p:spPr>
          <a:xfrm>
            <a:off x="3849391" y="303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500" dirty="0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CC5A5455-0E63-BE94-F9BD-C7D746791525}"/>
              </a:ext>
            </a:extLst>
          </p:cNvPr>
          <p:cNvSpPr/>
          <p:nvPr/>
        </p:nvSpPr>
        <p:spPr>
          <a:xfrm>
            <a:off x="4416319" y="3030944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0C6D42A1-E5F8-D10C-F799-D56EEF246D44}"/>
              </a:ext>
            </a:extLst>
          </p:cNvPr>
          <p:cNvSpPr/>
          <p:nvPr/>
        </p:nvSpPr>
        <p:spPr>
          <a:xfrm>
            <a:off x="4416319" y="3030944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50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1405D035-0796-936D-64C0-2066D9B9DC8E}"/>
              </a:ext>
            </a:extLst>
          </p:cNvPr>
          <p:cNvSpPr/>
          <p:nvPr/>
        </p:nvSpPr>
        <p:spPr>
          <a:xfrm>
            <a:off x="1581679" y="359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0FF3F428-F683-4E6E-5DC6-16FBE536DE7D}"/>
              </a:ext>
            </a:extLst>
          </p:cNvPr>
          <p:cNvSpPr/>
          <p:nvPr/>
        </p:nvSpPr>
        <p:spPr>
          <a:xfrm>
            <a:off x="1581679" y="359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5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5834151-3137-A41D-1AA0-200B29B4A946}"/>
              </a:ext>
            </a:extLst>
          </p:cNvPr>
          <p:cNvSpPr/>
          <p:nvPr/>
        </p:nvSpPr>
        <p:spPr>
          <a:xfrm>
            <a:off x="2148607" y="3597872"/>
            <a:ext cx="539496" cy="539496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F5987019-7E94-E47C-C263-8AE2DCB0DD3A}"/>
              </a:ext>
            </a:extLst>
          </p:cNvPr>
          <p:cNvSpPr/>
          <p:nvPr/>
        </p:nvSpPr>
        <p:spPr>
          <a:xfrm>
            <a:off x="2148607" y="359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5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50ACFAD2-78E3-68DE-B1CD-65BB7D43FD6C}"/>
              </a:ext>
            </a:extLst>
          </p:cNvPr>
          <p:cNvSpPr/>
          <p:nvPr/>
        </p:nvSpPr>
        <p:spPr>
          <a:xfrm>
            <a:off x="2715535" y="359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B38A003C-F1CD-E217-840E-A3224A34D7C5}"/>
              </a:ext>
            </a:extLst>
          </p:cNvPr>
          <p:cNvSpPr/>
          <p:nvPr/>
        </p:nvSpPr>
        <p:spPr>
          <a:xfrm>
            <a:off x="2715535" y="359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500" dirty="0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D6AA185F-4314-106D-BD12-C7F81EE0CACD}"/>
              </a:ext>
            </a:extLst>
          </p:cNvPr>
          <p:cNvSpPr/>
          <p:nvPr/>
        </p:nvSpPr>
        <p:spPr>
          <a:xfrm>
            <a:off x="3282463" y="359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121EECBC-E3E4-0E5E-AC9B-C43CE74800D8}"/>
              </a:ext>
            </a:extLst>
          </p:cNvPr>
          <p:cNvSpPr/>
          <p:nvPr/>
        </p:nvSpPr>
        <p:spPr>
          <a:xfrm>
            <a:off x="3282463" y="359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9A46BE26-20D7-B7AD-917E-DE8D90C7140E}"/>
              </a:ext>
            </a:extLst>
          </p:cNvPr>
          <p:cNvSpPr/>
          <p:nvPr/>
        </p:nvSpPr>
        <p:spPr>
          <a:xfrm>
            <a:off x="3849391" y="359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7D435396-E1F5-4635-A687-5063447773E1}"/>
              </a:ext>
            </a:extLst>
          </p:cNvPr>
          <p:cNvSpPr/>
          <p:nvPr/>
        </p:nvSpPr>
        <p:spPr>
          <a:xfrm>
            <a:off x="3849391" y="359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500" dirty="0"/>
          </a:p>
        </p:txBody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D4E5DA09-7C0F-E8BE-88C1-BA0403C8E72F}"/>
              </a:ext>
            </a:extLst>
          </p:cNvPr>
          <p:cNvSpPr/>
          <p:nvPr/>
        </p:nvSpPr>
        <p:spPr>
          <a:xfrm>
            <a:off x="4416319" y="3597872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DD53DD2A-9AF3-3EA9-CFC6-44BADD864D0F}"/>
              </a:ext>
            </a:extLst>
          </p:cNvPr>
          <p:cNvSpPr/>
          <p:nvPr/>
        </p:nvSpPr>
        <p:spPr>
          <a:xfrm>
            <a:off x="4416319" y="3597872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500" dirty="0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6E5B1AD5-62B1-81CE-DA93-BFFBE3E6A587}"/>
              </a:ext>
            </a:extLst>
          </p:cNvPr>
          <p:cNvSpPr/>
          <p:nvPr/>
        </p:nvSpPr>
        <p:spPr>
          <a:xfrm>
            <a:off x="1581679" y="416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2C31C764-2D1F-FC42-01AD-532144538371}"/>
              </a:ext>
            </a:extLst>
          </p:cNvPr>
          <p:cNvSpPr/>
          <p:nvPr/>
        </p:nvSpPr>
        <p:spPr>
          <a:xfrm>
            <a:off x="1581679" y="416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53" name="Shape 52">
            <a:extLst>
              <a:ext uri="{FF2B5EF4-FFF2-40B4-BE49-F238E27FC236}">
                <a16:creationId xmlns:a16="http://schemas.microsoft.com/office/drawing/2014/main" id="{B4DECE6B-A223-E761-9330-1A84ADB99305}"/>
              </a:ext>
            </a:extLst>
          </p:cNvPr>
          <p:cNvSpPr/>
          <p:nvPr/>
        </p:nvSpPr>
        <p:spPr>
          <a:xfrm>
            <a:off x="2148607" y="416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C5677D27-98FB-9596-C087-4C0A447A8AC7}"/>
              </a:ext>
            </a:extLst>
          </p:cNvPr>
          <p:cNvSpPr/>
          <p:nvPr/>
        </p:nvSpPr>
        <p:spPr>
          <a:xfrm>
            <a:off x="2148607" y="416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500" dirty="0"/>
          </a:p>
        </p:txBody>
      </p:sp>
      <p:sp>
        <p:nvSpPr>
          <p:cNvPr id="55" name="Shape 54">
            <a:extLst>
              <a:ext uri="{FF2B5EF4-FFF2-40B4-BE49-F238E27FC236}">
                <a16:creationId xmlns:a16="http://schemas.microsoft.com/office/drawing/2014/main" id="{B37D29AD-5330-651E-CC14-F1652F49EFC8}"/>
              </a:ext>
            </a:extLst>
          </p:cNvPr>
          <p:cNvSpPr/>
          <p:nvPr/>
        </p:nvSpPr>
        <p:spPr>
          <a:xfrm>
            <a:off x="2715535" y="4164800"/>
            <a:ext cx="539496" cy="539496"/>
          </a:xfrm>
          <a:prstGeom prst="rect">
            <a:avLst/>
          </a:prstGeom>
          <a:solidFill>
            <a:srgbClr val="C6282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B293F963-8860-7BB5-A41D-6FA629A41C3A}"/>
              </a:ext>
            </a:extLst>
          </p:cNvPr>
          <p:cNvSpPr/>
          <p:nvPr/>
        </p:nvSpPr>
        <p:spPr>
          <a:xfrm>
            <a:off x="2715535" y="416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500" dirty="0"/>
          </a:p>
        </p:txBody>
      </p:sp>
      <p:sp>
        <p:nvSpPr>
          <p:cNvPr id="57" name="Shape 56">
            <a:extLst>
              <a:ext uri="{FF2B5EF4-FFF2-40B4-BE49-F238E27FC236}">
                <a16:creationId xmlns:a16="http://schemas.microsoft.com/office/drawing/2014/main" id="{F308324A-A4B0-770E-33EE-6DB241EA3035}"/>
              </a:ext>
            </a:extLst>
          </p:cNvPr>
          <p:cNvSpPr/>
          <p:nvPr/>
        </p:nvSpPr>
        <p:spPr>
          <a:xfrm>
            <a:off x="3282463" y="416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Text 57">
            <a:extLst>
              <a:ext uri="{FF2B5EF4-FFF2-40B4-BE49-F238E27FC236}">
                <a16:creationId xmlns:a16="http://schemas.microsoft.com/office/drawing/2014/main" id="{E5BDA074-49C1-2E8C-5E96-8DD847908E82}"/>
              </a:ext>
            </a:extLst>
          </p:cNvPr>
          <p:cNvSpPr/>
          <p:nvPr/>
        </p:nvSpPr>
        <p:spPr>
          <a:xfrm>
            <a:off x="3282463" y="416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500" dirty="0"/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A5738B4B-993C-917F-F94A-AF0D99436439}"/>
              </a:ext>
            </a:extLst>
          </p:cNvPr>
          <p:cNvSpPr/>
          <p:nvPr/>
        </p:nvSpPr>
        <p:spPr>
          <a:xfrm>
            <a:off x="3849391" y="416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61703D34-3B4F-469A-8FF9-68A200EDABBB}"/>
              </a:ext>
            </a:extLst>
          </p:cNvPr>
          <p:cNvSpPr/>
          <p:nvPr/>
        </p:nvSpPr>
        <p:spPr>
          <a:xfrm>
            <a:off x="3849391" y="416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500" dirty="0"/>
          </a:p>
        </p:txBody>
      </p:sp>
      <p:sp>
        <p:nvSpPr>
          <p:cNvPr id="61" name="Shape 60">
            <a:extLst>
              <a:ext uri="{FF2B5EF4-FFF2-40B4-BE49-F238E27FC236}">
                <a16:creationId xmlns:a16="http://schemas.microsoft.com/office/drawing/2014/main" id="{3909E99C-BFCD-DFE8-CECB-84089188F2DA}"/>
              </a:ext>
            </a:extLst>
          </p:cNvPr>
          <p:cNvSpPr/>
          <p:nvPr/>
        </p:nvSpPr>
        <p:spPr>
          <a:xfrm>
            <a:off x="4416319" y="4164800"/>
            <a:ext cx="539496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Text 61">
            <a:extLst>
              <a:ext uri="{FF2B5EF4-FFF2-40B4-BE49-F238E27FC236}">
                <a16:creationId xmlns:a16="http://schemas.microsoft.com/office/drawing/2014/main" id="{B7CEA39E-785E-4060-E617-EB4A9CFB5DED}"/>
              </a:ext>
            </a:extLst>
          </p:cNvPr>
          <p:cNvSpPr/>
          <p:nvPr/>
        </p:nvSpPr>
        <p:spPr>
          <a:xfrm>
            <a:off x="4416319" y="4164800"/>
            <a:ext cx="53949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500" dirty="0"/>
          </a:p>
        </p:txBody>
      </p:sp>
      <p:sp>
        <p:nvSpPr>
          <p:cNvPr id="63" name="Shape 62">
            <a:extLst>
              <a:ext uri="{FF2B5EF4-FFF2-40B4-BE49-F238E27FC236}">
                <a16:creationId xmlns:a16="http://schemas.microsoft.com/office/drawing/2014/main" id="{3601A0C2-212C-18A0-53D5-BFF951737C64}"/>
              </a:ext>
            </a:extLst>
          </p:cNvPr>
          <p:cNvSpPr/>
          <p:nvPr/>
        </p:nvSpPr>
        <p:spPr>
          <a:xfrm>
            <a:off x="6026936" y="1341507"/>
            <a:ext cx="4937760" cy="1234440"/>
          </a:xfrm>
          <a:prstGeom prst="rect">
            <a:avLst/>
          </a:prstGeom>
          <a:solidFill>
            <a:srgbClr val="F5F8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8" name="Shape 63">
            <a:extLst>
              <a:ext uri="{FF2B5EF4-FFF2-40B4-BE49-F238E27FC236}">
                <a16:creationId xmlns:a16="http://schemas.microsoft.com/office/drawing/2014/main" id="{E74F41BC-16AA-E0BB-B6B0-28FE9B2B7CA1}"/>
              </a:ext>
            </a:extLst>
          </p:cNvPr>
          <p:cNvSpPr/>
          <p:nvPr/>
        </p:nvSpPr>
        <p:spPr>
          <a:xfrm>
            <a:off x="6026936" y="1341507"/>
            <a:ext cx="91440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9" name="Text 64">
            <a:extLst>
              <a:ext uri="{FF2B5EF4-FFF2-40B4-BE49-F238E27FC236}">
                <a16:creationId xmlns:a16="http://schemas.microsoft.com/office/drawing/2014/main" id="{78695124-5CA9-4747-3949-868DEEC111EB}"/>
              </a:ext>
            </a:extLst>
          </p:cNvPr>
          <p:cNvSpPr/>
          <p:nvPr/>
        </p:nvSpPr>
        <p:spPr>
          <a:xfrm>
            <a:off x="6026936" y="1341507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700" dirty="0"/>
          </a:p>
        </p:txBody>
      </p:sp>
      <p:sp>
        <p:nvSpPr>
          <p:cNvPr id="130" name="Text 65">
            <a:extLst>
              <a:ext uri="{FF2B5EF4-FFF2-40B4-BE49-F238E27FC236}">
                <a16:creationId xmlns:a16="http://schemas.microsoft.com/office/drawing/2014/main" id="{6B4B0081-39C3-33FB-1BA6-8A19CBDF0E78}"/>
              </a:ext>
            </a:extLst>
          </p:cNvPr>
          <p:cNvSpPr/>
          <p:nvPr/>
        </p:nvSpPr>
        <p:spPr>
          <a:xfrm>
            <a:off x="7032776" y="1387227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(R0,C0)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  (R0,C2)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Dir:   RIGHT →</a:t>
            </a:r>
            <a:endParaRPr lang="en-US" sz="1800" dirty="0"/>
          </a:p>
        </p:txBody>
      </p:sp>
      <p:sp>
        <p:nvSpPr>
          <p:cNvPr id="131" name="Shape 66">
            <a:extLst>
              <a:ext uri="{FF2B5EF4-FFF2-40B4-BE49-F238E27FC236}">
                <a16:creationId xmlns:a16="http://schemas.microsoft.com/office/drawing/2014/main" id="{21F11D7E-6736-716F-D341-CF3276522BBB}"/>
              </a:ext>
            </a:extLst>
          </p:cNvPr>
          <p:cNvSpPr/>
          <p:nvPr/>
        </p:nvSpPr>
        <p:spPr>
          <a:xfrm>
            <a:off x="6026936" y="2713107"/>
            <a:ext cx="4937760" cy="1234440"/>
          </a:xfrm>
          <a:prstGeom prst="rect">
            <a:avLst/>
          </a:prstGeom>
          <a:solidFill>
            <a:srgbClr val="F5F8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2" name="Shape 67">
            <a:extLst>
              <a:ext uri="{FF2B5EF4-FFF2-40B4-BE49-F238E27FC236}">
                <a16:creationId xmlns:a16="http://schemas.microsoft.com/office/drawing/2014/main" id="{94E1BDAD-A4EA-62DF-2A82-D75469546FAC}"/>
              </a:ext>
            </a:extLst>
          </p:cNvPr>
          <p:cNvSpPr/>
          <p:nvPr/>
        </p:nvSpPr>
        <p:spPr>
          <a:xfrm>
            <a:off x="6026936" y="2713107"/>
            <a:ext cx="91440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3" name="Text 68">
            <a:extLst>
              <a:ext uri="{FF2B5EF4-FFF2-40B4-BE49-F238E27FC236}">
                <a16:creationId xmlns:a16="http://schemas.microsoft.com/office/drawing/2014/main" id="{F00C2EB6-74F2-AD5C-8C41-351C913848B4}"/>
              </a:ext>
            </a:extLst>
          </p:cNvPr>
          <p:cNvSpPr/>
          <p:nvPr/>
        </p:nvSpPr>
        <p:spPr>
          <a:xfrm>
            <a:off x="6026936" y="2713107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1700" dirty="0"/>
          </a:p>
        </p:txBody>
      </p:sp>
      <p:sp>
        <p:nvSpPr>
          <p:cNvPr id="134" name="Text 69">
            <a:extLst>
              <a:ext uri="{FF2B5EF4-FFF2-40B4-BE49-F238E27FC236}">
                <a16:creationId xmlns:a16="http://schemas.microsoft.com/office/drawing/2014/main" id="{956B5B2B-31E9-B0C9-29B9-17FB53187BCD}"/>
              </a:ext>
            </a:extLst>
          </p:cNvPr>
          <p:cNvSpPr/>
          <p:nvPr/>
        </p:nvSpPr>
        <p:spPr>
          <a:xfrm>
            <a:off x="7032776" y="2758827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(R0,C4)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  (R2,C4)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Dir:   DOWN ↓</a:t>
            </a:r>
            <a:endParaRPr lang="en-US" sz="1800" dirty="0"/>
          </a:p>
        </p:txBody>
      </p:sp>
      <p:sp>
        <p:nvSpPr>
          <p:cNvPr id="135" name="Shape 70">
            <a:extLst>
              <a:ext uri="{FF2B5EF4-FFF2-40B4-BE49-F238E27FC236}">
                <a16:creationId xmlns:a16="http://schemas.microsoft.com/office/drawing/2014/main" id="{87EF1290-A458-1211-D2EC-9A597B594EF2}"/>
              </a:ext>
            </a:extLst>
          </p:cNvPr>
          <p:cNvSpPr/>
          <p:nvPr/>
        </p:nvSpPr>
        <p:spPr>
          <a:xfrm>
            <a:off x="6026936" y="4084707"/>
            <a:ext cx="4937760" cy="1234440"/>
          </a:xfrm>
          <a:prstGeom prst="rect">
            <a:avLst/>
          </a:prstGeom>
          <a:solidFill>
            <a:srgbClr val="F5F8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36" name="Shape 71">
            <a:extLst>
              <a:ext uri="{FF2B5EF4-FFF2-40B4-BE49-F238E27FC236}">
                <a16:creationId xmlns:a16="http://schemas.microsoft.com/office/drawing/2014/main" id="{6BFF600A-8B0B-60FD-64D0-6023A30297A3}"/>
              </a:ext>
            </a:extLst>
          </p:cNvPr>
          <p:cNvSpPr/>
          <p:nvPr/>
        </p:nvSpPr>
        <p:spPr>
          <a:xfrm>
            <a:off x="6026936" y="4084707"/>
            <a:ext cx="914400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7" name="Text 72">
            <a:extLst>
              <a:ext uri="{FF2B5EF4-FFF2-40B4-BE49-F238E27FC236}">
                <a16:creationId xmlns:a16="http://schemas.microsoft.com/office/drawing/2014/main" id="{16585EA0-3BD2-E038-9423-B1BEFD014BB9}"/>
              </a:ext>
            </a:extLst>
          </p:cNvPr>
          <p:cNvSpPr/>
          <p:nvPr/>
        </p:nvSpPr>
        <p:spPr>
          <a:xfrm>
            <a:off x="6026936" y="4084707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700" dirty="0"/>
          </a:p>
        </p:txBody>
      </p:sp>
      <p:sp>
        <p:nvSpPr>
          <p:cNvPr id="138" name="Text 73">
            <a:extLst>
              <a:ext uri="{FF2B5EF4-FFF2-40B4-BE49-F238E27FC236}">
                <a16:creationId xmlns:a16="http://schemas.microsoft.com/office/drawing/2014/main" id="{DE055F7A-AA30-3628-D891-5B08D18590A4}"/>
              </a:ext>
            </a:extLst>
          </p:cNvPr>
          <p:cNvSpPr/>
          <p:nvPr/>
        </p:nvSpPr>
        <p:spPr>
          <a:xfrm>
            <a:off x="7032776" y="4130427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(R2,C0)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  (R4,C2)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Dir:   DOWN-RIGHT ↘</a:t>
            </a:r>
            <a:endParaRPr lang="en-US" sz="1800" dirty="0"/>
          </a:p>
        </p:txBody>
      </p:sp>
      <p:sp>
        <p:nvSpPr>
          <p:cNvPr id="139" name="Text 74">
            <a:extLst>
              <a:ext uri="{FF2B5EF4-FFF2-40B4-BE49-F238E27FC236}">
                <a16:creationId xmlns:a16="http://schemas.microsoft.com/office/drawing/2014/main" id="{7622ACB3-D5E1-1D5C-6FBD-14EF909B671F}"/>
              </a:ext>
            </a:extLst>
          </p:cNvPr>
          <p:cNvSpPr/>
          <p:nvPr/>
        </p:nvSpPr>
        <p:spPr>
          <a:xfrm>
            <a:off x="1581679" y="6002655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words FOUND ✔ — demonstrating RIGHT, DOWN, and DIAGONAL directions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3BC95090-2A7A-E266-4FF8-F40F65443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B6FFC94-949F-2B81-365C-BE1595A8A3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35DBEDDA-7BC0-E3DA-CC85-FAE06299D224}"/>
              </a:ext>
            </a:extLst>
          </p:cNvPr>
          <p:cNvSpPr txBox="1"/>
          <p:nvPr/>
        </p:nvSpPr>
        <p:spPr>
          <a:xfrm>
            <a:off x="305276" y="2297906"/>
            <a:ext cx="11581447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Alternative Approaches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7ED0D51-B862-0772-B1D7-C6D8C26BFAC1}"/>
              </a:ext>
            </a:extLst>
          </p:cNvPr>
          <p:cNvSpPr/>
          <p:nvPr/>
        </p:nvSpPr>
        <p:spPr>
          <a:xfrm>
            <a:off x="5381625" y="3383181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F22832D1-B19D-84F9-7CB7-65576914AFC4}"/>
              </a:ext>
            </a:extLst>
          </p:cNvPr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Section - IV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532932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771525" y="581025"/>
            <a:ext cx="940919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Alternative Approaches – why not chosen?</a:t>
            </a:r>
            <a:endParaRPr dirty="0"/>
          </a:p>
        </p:txBody>
      </p:sp>
      <p:sp>
        <p:nvSpPr>
          <p:cNvPr id="172" name="Google Shape;172;p18"/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9D190C0D-7886-9C8A-8807-5B55FE0B8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774437"/>
              </p:ext>
            </p:extLst>
          </p:nvPr>
        </p:nvGraphicFramePr>
        <p:xfrm>
          <a:off x="1030204" y="1549668"/>
          <a:ext cx="10279480" cy="470635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39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9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8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Approach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Time Complexity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8 Directions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Chosen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Reason Not Chosen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Brute Force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O(N·M·8·L·K)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All 8 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Redundant; restarts full scan per word; impractical for large 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KMP per Line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O(K·(N+M)·dim)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Limited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Works only on rows/columns; diagonals require special handling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Aho-Corasick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O(N·M + matches)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Limited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Theoretically optimal but complex failure-link construction; overkill for this course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Regex Search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Unknown / opaque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Limited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No algorithmic insight; unsuitable for 2D traversal or course objectives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Trie + DFS 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O(N·M·8·L)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All 8 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Efficient, clear, handles all directions, appropriate complexity for course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D3945F8-1AE2-4FCF-E94A-9C2ACEAC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EC297FBF-88D1-DE78-6E33-2DC71C6E56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D6DDCC25-8E36-5820-1389-5CA81954CBF7}"/>
              </a:ext>
            </a:extLst>
          </p:cNvPr>
          <p:cNvSpPr txBox="1"/>
          <p:nvPr/>
        </p:nvSpPr>
        <p:spPr>
          <a:xfrm>
            <a:off x="305276" y="2297906"/>
            <a:ext cx="11581447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Implementation 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844C1208-E31E-8666-487F-03564395882A}"/>
              </a:ext>
            </a:extLst>
          </p:cNvPr>
          <p:cNvSpPr/>
          <p:nvPr/>
        </p:nvSpPr>
        <p:spPr>
          <a:xfrm>
            <a:off x="5381625" y="3312318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B6074DE3-0F3C-0718-D987-D8860B3AA62B}"/>
              </a:ext>
            </a:extLst>
          </p:cNvPr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Section - </a:t>
            </a:r>
            <a:r>
              <a:rPr lang="en-US" sz="1800" b="1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endParaRPr sz="1800" dirty="0"/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D958DA7F-31A9-0D39-5F5B-12246B5A820F}"/>
              </a:ext>
            </a:extLst>
          </p:cNvPr>
          <p:cNvSpPr txBox="1"/>
          <p:nvPr/>
        </p:nvSpPr>
        <p:spPr>
          <a:xfrm>
            <a:off x="581025" y="3807618"/>
            <a:ext cx="110299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User Manipulation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681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C2E75405-B6E3-4A45-9E12-F89E6C1A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FE3924B4-35C2-8C8D-512E-C1EBA67325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266" y="1425039"/>
            <a:ext cx="4699159" cy="4730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E0DA2CB3-90B6-3877-DED7-ADEEE2521DBF}"/>
              </a:ext>
            </a:extLst>
          </p:cNvPr>
          <p:cNvSpPr txBox="1"/>
          <p:nvPr/>
        </p:nvSpPr>
        <p:spPr>
          <a:xfrm>
            <a:off x="771525" y="581025"/>
            <a:ext cx="691216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F67C2C98-E11E-9033-D98A-06B3C6F92F92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6;p15">
            <a:extLst>
              <a:ext uri="{FF2B5EF4-FFF2-40B4-BE49-F238E27FC236}">
                <a16:creationId xmlns:a16="http://schemas.microsoft.com/office/drawing/2014/main" id="{9287F507-B25D-FE15-09AF-DF13D008C348}"/>
              </a:ext>
            </a:extLst>
          </p:cNvPr>
          <p:cNvSpPr txBox="1"/>
          <p:nvPr/>
        </p:nvSpPr>
        <p:spPr>
          <a:xfrm>
            <a:off x="1229547" y="1954150"/>
            <a:ext cx="3923138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2000" b="1" dirty="0"/>
              <a:t>Programming Language:</a:t>
            </a:r>
            <a:r>
              <a:rPr lang="en-US" sz="2000" dirty="0"/>
              <a:t> 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C++ 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Used for efficient memory handling and recursion support</a:t>
            </a:r>
          </a:p>
          <a:p>
            <a:pPr lvl="1" algn="just"/>
            <a:endParaRPr lang="en-US" sz="2000" dirty="0"/>
          </a:p>
          <a:p>
            <a:pPr algn="just"/>
            <a:r>
              <a:rPr lang="en-US" sz="2000" b="1" dirty="0"/>
              <a:t>Core Components: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Trie (Prefix Tree) for storing words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DFS + Backtracking for grid traversal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Visited array to track used cells</a:t>
            </a:r>
          </a:p>
          <a:p>
            <a:pPr lvl="1" algn="just"/>
            <a:endParaRPr lang="en-US" sz="2000" dirty="0"/>
          </a:p>
        </p:txBody>
      </p:sp>
      <p:pic>
        <p:nvPicPr>
          <p:cNvPr id="3" name="Google Shape;113;p15" descr="image.png">
            <a:extLst>
              <a:ext uri="{FF2B5EF4-FFF2-40B4-BE49-F238E27FC236}">
                <a16:creationId xmlns:a16="http://schemas.microsoft.com/office/drawing/2014/main" id="{A4D12664-354E-225A-3E3B-B955FC5D49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4026" y="1425039"/>
            <a:ext cx="4699159" cy="4730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6;p15">
            <a:extLst>
              <a:ext uri="{FF2B5EF4-FFF2-40B4-BE49-F238E27FC236}">
                <a16:creationId xmlns:a16="http://schemas.microsoft.com/office/drawing/2014/main" id="{C81CFFE5-DBD2-2C8F-9D70-3562ADCD5067}"/>
              </a:ext>
            </a:extLst>
          </p:cNvPr>
          <p:cNvSpPr txBox="1"/>
          <p:nvPr/>
        </p:nvSpPr>
        <p:spPr>
          <a:xfrm>
            <a:off x="6929307" y="1954150"/>
            <a:ext cx="3923138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2000" b="1" dirty="0"/>
              <a:t>Output Verification</a:t>
            </a:r>
          </a:p>
          <a:p>
            <a:pPr algn="just"/>
            <a:r>
              <a:rPr lang="en-US" sz="2000" dirty="0"/>
              <a:t>Results are printed to console and also written to an output file: each word followed by its start coordinates and direction, or NOT FOUND.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Anticipated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Correctly implementing Trie deletion after a word is found (to avoid re-reporting).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Handling diagonal boundary conditions. </a:t>
            </a:r>
          </a:p>
        </p:txBody>
      </p:sp>
    </p:spTree>
    <p:extLst>
      <p:ext uri="{BB962C8B-B14F-4D97-AF65-F5344CB8AC3E}">
        <p14:creationId xmlns:p14="http://schemas.microsoft.com/office/powerpoint/2010/main" val="3175321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05EECCA5-9BDD-81AA-1DA2-6225BEA9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AAB3A5FD-B47B-CF4F-2026-47A9D997A4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A9E53C2E-B171-E29A-F252-617A9D17EB77}"/>
              </a:ext>
            </a:extLst>
          </p:cNvPr>
          <p:cNvSpPr txBox="1"/>
          <p:nvPr/>
        </p:nvSpPr>
        <p:spPr>
          <a:xfrm>
            <a:off x="305276" y="2297906"/>
            <a:ext cx="11581447" cy="95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dirty="0">
                <a:solidFill>
                  <a:srgbClr val="2C3E50"/>
                </a:solidFill>
                <a:latin typeface="Montserrat"/>
                <a:sym typeface="Montserrat"/>
              </a:rPr>
              <a:t>Limitations</a:t>
            </a: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12E01872-BB31-80FE-0D66-A1EC087E8CF4}"/>
              </a:ext>
            </a:extLst>
          </p:cNvPr>
          <p:cNvSpPr/>
          <p:nvPr/>
        </p:nvSpPr>
        <p:spPr>
          <a:xfrm>
            <a:off x="5381625" y="3383181"/>
            <a:ext cx="1428750" cy="5715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03C93F30-D3DA-288A-76DE-C72E64C3CBB4}"/>
              </a:ext>
            </a:extLst>
          </p:cNvPr>
          <p:cNvSpPr txBox="1"/>
          <p:nvPr/>
        </p:nvSpPr>
        <p:spPr>
          <a:xfrm>
            <a:off x="581025" y="1955006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800" b="1" i="0" u="none" strike="noStrike" cap="none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Section - </a:t>
            </a:r>
            <a:r>
              <a:rPr lang="en-US" sz="1800" b="1" dirty="0">
                <a:solidFill>
                  <a:srgbClr val="3498DB"/>
                </a:solidFill>
                <a:latin typeface="Roboto"/>
                <a:ea typeface="Roboto"/>
                <a:cs typeface="Roboto"/>
                <a:sym typeface="Roboto"/>
              </a:rPr>
              <a:t>VI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253436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4D6CF2E3-8404-CFC2-DEEB-4E32620E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>
            <a:extLst>
              <a:ext uri="{FF2B5EF4-FFF2-40B4-BE49-F238E27FC236}">
                <a16:creationId xmlns:a16="http://schemas.microsoft.com/office/drawing/2014/main" id="{F6E60522-6F4E-5B5F-190B-D1CEF66980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>
            <a:extLst>
              <a:ext uri="{FF2B5EF4-FFF2-40B4-BE49-F238E27FC236}">
                <a16:creationId xmlns:a16="http://schemas.microsoft.com/office/drawing/2014/main" id="{36D0A18C-5166-A2A5-7BE3-F1E3727A71D3}"/>
              </a:ext>
            </a:extLst>
          </p:cNvPr>
          <p:cNvSpPr txBox="1"/>
          <p:nvPr/>
        </p:nvSpPr>
        <p:spPr>
          <a:xfrm>
            <a:off x="771525" y="581025"/>
            <a:ext cx="7886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the system</a:t>
            </a:r>
          </a:p>
        </p:txBody>
      </p: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BE214D85-7E67-E0DA-7CBA-E6939E1BC458}"/>
              </a:ext>
            </a:extLst>
          </p:cNvPr>
          <p:cNvSpPr/>
          <p:nvPr/>
        </p:nvSpPr>
        <p:spPr>
          <a:xfrm>
            <a:off x="581025" y="581025"/>
            <a:ext cx="95250" cy="495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B9E31CF-1472-B284-076D-FF676BF2B12F}"/>
              </a:ext>
            </a:extLst>
          </p:cNvPr>
          <p:cNvSpPr/>
          <p:nvPr/>
        </p:nvSpPr>
        <p:spPr>
          <a:xfrm>
            <a:off x="1502288" y="1630680"/>
            <a:ext cx="2834640" cy="1737360"/>
          </a:xfrm>
          <a:prstGeom prst="rect">
            <a:avLst/>
          </a:prstGeom>
          <a:solidFill>
            <a:srgbClr val="F5F8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4A4109-D4D2-2C5D-5D35-C687F8941D9C}"/>
              </a:ext>
            </a:extLst>
          </p:cNvPr>
          <p:cNvSpPr/>
          <p:nvPr/>
        </p:nvSpPr>
        <p:spPr>
          <a:xfrm>
            <a:off x="1593728" y="1722120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CD0DF3-8EC9-B475-C5E2-8DB679B69867}"/>
              </a:ext>
            </a:extLst>
          </p:cNvPr>
          <p:cNvSpPr/>
          <p:nvPr/>
        </p:nvSpPr>
        <p:spPr>
          <a:xfrm>
            <a:off x="1593728" y="1722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A79931-2A3B-B9A1-2B96-F9D22FB32D42}"/>
              </a:ext>
            </a:extLst>
          </p:cNvPr>
          <p:cNvSpPr/>
          <p:nvPr/>
        </p:nvSpPr>
        <p:spPr>
          <a:xfrm>
            <a:off x="2096648" y="17404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 Cap</a:t>
            </a:r>
            <a:endParaRPr lang="en-US" sz="1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089F7C5-3760-A7A1-C5C6-1046966FC0D9}"/>
              </a:ext>
            </a:extLst>
          </p:cNvPr>
          <p:cNvSpPr/>
          <p:nvPr/>
        </p:nvSpPr>
        <p:spPr>
          <a:xfrm>
            <a:off x="1593728" y="22250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20×20; very large grids need dynamic allocation and iterative DFS.</a:t>
            </a:r>
            <a:endParaRPr lang="en-US" sz="16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83EDB52-1CCC-7B9A-F8A6-8163E8E7A630}"/>
              </a:ext>
            </a:extLst>
          </p:cNvPr>
          <p:cNvSpPr/>
          <p:nvPr/>
        </p:nvSpPr>
        <p:spPr>
          <a:xfrm>
            <a:off x="4483232" y="1630680"/>
            <a:ext cx="2834640" cy="1737360"/>
          </a:xfrm>
          <a:prstGeom prst="rect">
            <a:avLst/>
          </a:prstGeom>
          <a:solidFill>
            <a:srgbClr val="F5F8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FEC37FD-201D-BDE4-5530-DA9BBB5F6E97}"/>
              </a:ext>
            </a:extLst>
          </p:cNvPr>
          <p:cNvSpPr/>
          <p:nvPr/>
        </p:nvSpPr>
        <p:spPr>
          <a:xfrm>
            <a:off x="4574672" y="1722120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F40F1D8-489A-35C7-5130-8FE663D0A4B3}"/>
              </a:ext>
            </a:extLst>
          </p:cNvPr>
          <p:cNvSpPr/>
          <p:nvPr/>
        </p:nvSpPr>
        <p:spPr>
          <a:xfrm>
            <a:off x="4574672" y="1722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AB2356B-1007-C92D-D257-6A19D4556366}"/>
              </a:ext>
            </a:extLst>
          </p:cNvPr>
          <p:cNvSpPr/>
          <p:nvPr/>
        </p:nvSpPr>
        <p:spPr>
          <a:xfrm>
            <a:off x="5077592" y="17404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Occurrence</a:t>
            </a:r>
            <a:endParaRPr lang="en-US" sz="1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D1C15B5-8C3F-600A-5B02-4BCB66D6C677}"/>
              </a:ext>
            </a:extLst>
          </p:cNvPr>
          <p:cNvSpPr/>
          <p:nvPr/>
        </p:nvSpPr>
        <p:spPr>
          <a:xfrm>
            <a:off x="4574672" y="22250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match of a word is reported; duplicates in the grid are ignored.</a:t>
            </a:r>
            <a:endParaRPr lang="en-US" sz="16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D182B92-658E-09E0-A4C3-2B6754B5B83A}"/>
              </a:ext>
            </a:extLst>
          </p:cNvPr>
          <p:cNvSpPr/>
          <p:nvPr/>
        </p:nvSpPr>
        <p:spPr>
          <a:xfrm>
            <a:off x="7464176" y="1630680"/>
            <a:ext cx="2834640" cy="1737360"/>
          </a:xfrm>
          <a:prstGeom prst="rect">
            <a:avLst/>
          </a:prstGeom>
          <a:solidFill>
            <a:srgbClr val="F5F8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AF5CB77-51C1-CFCC-B8CF-FF8670F64E3A}"/>
              </a:ext>
            </a:extLst>
          </p:cNvPr>
          <p:cNvSpPr/>
          <p:nvPr/>
        </p:nvSpPr>
        <p:spPr>
          <a:xfrm>
            <a:off x="7555616" y="1722120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D63049D-3C9C-C48A-FDE0-7818B8E01E94}"/>
              </a:ext>
            </a:extLst>
          </p:cNvPr>
          <p:cNvSpPr/>
          <p:nvPr/>
        </p:nvSpPr>
        <p:spPr>
          <a:xfrm>
            <a:off x="7555616" y="1722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8C798722-FDBE-D525-09A2-125AAA1F2E6C}"/>
              </a:ext>
            </a:extLst>
          </p:cNvPr>
          <p:cNvSpPr/>
          <p:nvPr/>
        </p:nvSpPr>
        <p:spPr>
          <a:xfrm>
            <a:off x="8058536" y="17404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</a:t>
            </a:r>
            <a:endParaRPr lang="en-US" sz="1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3C434A8-EC12-CEE8-0954-563AF71A4731}"/>
              </a:ext>
            </a:extLst>
          </p:cNvPr>
          <p:cNvSpPr/>
          <p:nvPr/>
        </p:nvSpPr>
        <p:spPr>
          <a:xfrm>
            <a:off x="7555616" y="222504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nodes use dynamic memory allocation but are not freed after execution.</a:t>
            </a:r>
            <a:endParaRPr lang="en-US" sz="16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6C295528-85E5-1B5B-C132-638A41D69A8E}"/>
              </a:ext>
            </a:extLst>
          </p:cNvPr>
          <p:cNvSpPr/>
          <p:nvPr/>
        </p:nvSpPr>
        <p:spPr>
          <a:xfrm>
            <a:off x="1502288" y="3550920"/>
            <a:ext cx="2834640" cy="1737360"/>
          </a:xfrm>
          <a:prstGeom prst="rect">
            <a:avLst/>
          </a:prstGeom>
          <a:solidFill>
            <a:srgbClr val="F5F8FF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CD7400D-1634-DE05-1521-292FBE62229A}"/>
              </a:ext>
            </a:extLst>
          </p:cNvPr>
          <p:cNvSpPr/>
          <p:nvPr/>
        </p:nvSpPr>
        <p:spPr>
          <a:xfrm>
            <a:off x="1593728" y="3642360"/>
            <a:ext cx="420624" cy="42062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D61D126-ACBD-A2EA-1403-CAE216F5DBB3}"/>
              </a:ext>
            </a:extLst>
          </p:cNvPr>
          <p:cNvSpPr/>
          <p:nvPr/>
        </p:nvSpPr>
        <p:spPr>
          <a:xfrm>
            <a:off x="1593728" y="3642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A188587-9629-334E-A97F-62C48972B641}"/>
              </a:ext>
            </a:extLst>
          </p:cNvPr>
          <p:cNvSpPr/>
          <p:nvPr/>
        </p:nvSpPr>
        <p:spPr>
          <a:xfrm>
            <a:off x="2096648" y="366064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 Only</a:t>
            </a:r>
            <a:endParaRPr lang="en-US" sz="18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CE6D2EF-4BA4-986D-3FBA-DC619EFC2F17}"/>
              </a:ext>
            </a:extLst>
          </p:cNvPr>
          <p:cNvSpPr/>
          <p:nvPr/>
        </p:nvSpPr>
        <p:spPr>
          <a:xfrm>
            <a:off x="1593728" y="41452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uppercase English input; other character sets are unsupported.</a:t>
            </a:r>
            <a:endParaRPr lang="en-US" sz="16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B976F2AE-3E3D-DC76-AD41-5F68095972D4}"/>
              </a:ext>
            </a:extLst>
          </p:cNvPr>
          <p:cNvSpPr/>
          <p:nvPr/>
        </p:nvSpPr>
        <p:spPr>
          <a:xfrm>
            <a:off x="4483232" y="3550920"/>
            <a:ext cx="2834640" cy="1737360"/>
          </a:xfrm>
          <a:prstGeom prst="rect">
            <a:avLst/>
          </a:prstGeom>
          <a:solidFill>
            <a:srgbClr val="F5F8FF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4F1815FC-AC95-B052-EF9E-C4273305D7CA}"/>
              </a:ext>
            </a:extLst>
          </p:cNvPr>
          <p:cNvSpPr/>
          <p:nvPr/>
        </p:nvSpPr>
        <p:spPr>
          <a:xfrm>
            <a:off x="4574672" y="3642360"/>
            <a:ext cx="420624" cy="42062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C4F12761-3EF9-A646-D2EB-671A842784C1}"/>
              </a:ext>
            </a:extLst>
          </p:cNvPr>
          <p:cNvSpPr/>
          <p:nvPr/>
        </p:nvSpPr>
        <p:spPr>
          <a:xfrm>
            <a:off x="4574672" y="3642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AF5EFF39-EA73-B002-6777-19C43E597731}"/>
              </a:ext>
            </a:extLst>
          </p:cNvPr>
          <p:cNvSpPr/>
          <p:nvPr/>
        </p:nvSpPr>
        <p:spPr>
          <a:xfrm>
            <a:off x="5077592" y="366064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Risk</a:t>
            </a:r>
            <a:endParaRPr lang="en-US" sz="18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57EBDA4-ED1D-E510-67EE-4A06139A8211}"/>
              </a:ext>
            </a:extLst>
          </p:cNvPr>
          <p:cNvSpPr/>
          <p:nvPr/>
        </p:nvSpPr>
        <p:spPr>
          <a:xfrm>
            <a:off x="4574672" y="41452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recursion on huge grids with long words may exceed system stack limits.</a:t>
            </a:r>
            <a:endParaRPr lang="en-US" sz="1600" dirty="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29D235F0-E0BB-7E65-96B4-0F6C7DE948AF}"/>
              </a:ext>
            </a:extLst>
          </p:cNvPr>
          <p:cNvSpPr/>
          <p:nvPr/>
        </p:nvSpPr>
        <p:spPr>
          <a:xfrm>
            <a:off x="7464176" y="3550920"/>
            <a:ext cx="2834640" cy="1737360"/>
          </a:xfrm>
          <a:prstGeom prst="rect">
            <a:avLst/>
          </a:prstGeom>
          <a:solidFill>
            <a:srgbClr val="F5F8FF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0521E16-7D1E-8185-7A87-5979565B5026}"/>
              </a:ext>
            </a:extLst>
          </p:cNvPr>
          <p:cNvSpPr/>
          <p:nvPr/>
        </p:nvSpPr>
        <p:spPr>
          <a:xfrm>
            <a:off x="7555616" y="3642360"/>
            <a:ext cx="420624" cy="42062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34CF3E7A-D62A-6C1F-4F21-8F32E6F8C58B}"/>
              </a:ext>
            </a:extLst>
          </p:cNvPr>
          <p:cNvSpPr/>
          <p:nvPr/>
        </p:nvSpPr>
        <p:spPr>
          <a:xfrm>
            <a:off x="7555616" y="3642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D230C78D-BE72-B7E6-8E8E-97B56630803D}"/>
              </a:ext>
            </a:extLst>
          </p:cNvPr>
          <p:cNvSpPr/>
          <p:nvPr/>
        </p:nvSpPr>
        <p:spPr>
          <a:xfrm>
            <a:off x="8058536" y="366064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Parallelism</a:t>
            </a:r>
            <a:endParaRPr lang="en-US" sz="18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06893F38-08E3-A2E7-849D-1BDB091C5E1A}"/>
              </a:ext>
            </a:extLst>
          </p:cNvPr>
          <p:cNvSpPr/>
          <p:nvPr/>
        </p:nvSpPr>
        <p:spPr>
          <a:xfrm>
            <a:off x="7555616" y="41452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is sequential; multi-threading could significantly boost large-scale performance.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3DCF4-582F-4201-9061-6E617618C615}"/>
              </a:ext>
            </a:extLst>
          </p:cNvPr>
          <p:cNvSpPr txBox="1"/>
          <p:nvPr/>
        </p:nvSpPr>
        <p:spPr>
          <a:xfrm>
            <a:off x="4385508" y="5471160"/>
            <a:ext cx="35330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Dynamic grid sizes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Multiple occurrence detection 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5902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305276" y="2085975"/>
            <a:ext cx="1158144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Any Questions?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81025" y="3171825"/>
            <a:ext cx="110299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Thank you for listening!</a:t>
            </a:r>
            <a:endParaRPr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68960753-2AD7-0B65-894E-ED64D53A3B8E}"/>
              </a:ext>
            </a:extLst>
          </p:cNvPr>
          <p:cNvSpPr txBox="1"/>
          <p:nvPr/>
        </p:nvSpPr>
        <p:spPr>
          <a:xfrm>
            <a:off x="581025" y="4583790"/>
            <a:ext cx="110299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Presented by</a:t>
            </a:r>
            <a:endParaRPr lang="en-US" sz="1500" dirty="0">
              <a:solidFill>
                <a:srgbClr val="77777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Amina Batool, Irfa Arshad, Nimra Atif, </a:t>
            </a:r>
            <a:r>
              <a:rPr lang="en-US" sz="1500" dirty="0" err="1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Almarwah</a:t>
            </a:r>
            <a:r>
              <a:rPr lang="en-US" sz="1500" dirty="0">
                <a:solidFill>
                  <a:srgbClr val="777777"/>
                </a:solidFill>
                <a:latin typeface="Roboto"/>
                <a:ea typeface="Roboto"/>
                <a:cs typeface="Roboto"/>
                <a:sym typeface="Roboto"/>
              </a:rPr>
              <a:t> K. M. Shaloun Mishal Asim, Hafsa Saghir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1292</Words>
  <Application>Microsoft Office PowerPoint</Application>
  <PresentationFormat>Widescreen</PresentationFormat>
  <Paragraphs>360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Roboto</vt:lpstr>
      <vt:lpstr>Montserrat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Amina</dc:creator>
  <cp:lastModifiedBy>Amina</cp:lastModifiedBy>
  <cp:revision>186</cp:revision>
  <dcterms:modified xsi:type="dcterms:W3CDTF">2026-05-06T18:33:24Z</dcterms:modified>
</cp:coreProperties>
</file>